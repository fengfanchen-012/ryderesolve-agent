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65" r:id="rId17"/>
    <p:sldId id="258" r:id="rId10"/>
    <p:sldId id="266" r:id="rId18"/>
    <p:sldId id="267" r:id="rId19"/>
    <p:sldId id="268" r:id="rId20"/>
    <p:sldId id="269" r:id="rId21"/>
    <p:sldId id="270" r:id="rId22"/>
    <p:sldId id="260" r:id="rId12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2" Type="http://schemas.openxmlformats.org/officeDocument/2006/relationships/slide" Target="slides/slide5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(0:00). Already on screen while the team walks up. Do not read it.</a:t>
            </a:r>
          </a:p>
          <a:p>
            <a:r>
              <a:t>Start talking straight away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(0:45-0:55)</a:t>
            </a:r>
          </a:p>
          <a:p>
            <a:r>
              <a:t>"Behind it: a rider advocate, a driver advocate and a judge, with evidence, photo, fraud and fairness checks around them, and code checking every fact. Here it is running."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(3:15-3:35)</a:t>
            </a:r>
          </a:p>
          <a:p>
            <a:r>
              <a:t>"The organisers' three samples: 3 of 3. A 30-case blind set in their format: 25 of 30. 52 cases under the current policy: 44 of 52 with zero wrong payouts. Most misses are cases handed to a person: minutes, not money."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(3:35-4:00)</a:t>
            </a:r>
          </a:p>
          <a:p>
            <a:r>
              <a:t>"The next step is real data, and it is already built: one setting connects Ryde's API in shadow mode. It rules next to the human, pays nothing, and earns the right to decide small cases alone. RydeResolve: fair, explainable ride-dispute rulings in minutes, not days. Thank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 only (full architecture). Not part of the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(0:00-0:20)</a:t>
            </a:r>
          </a:p>
          <a:p>
            <a:r>
              <a:t>"Ryde asked for a system that rules rider-driver disputes fairly, fast and without a person for most standard cases. Today a dispute takes 24 to 72 hours, every one is read by hand, two agents can rule differently on the same facts, and people who feel treated unfairly leave. Our rule: automate what can be proven from the records; a person decides the rest."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(0:20-0:45)</a:t>
            </a:r>
          </a:p>
          <a:p>
            <a:r>
              <a:t>"Each pain point has an answer you can check. 24 to 72 hours becomes under two minutes. Cost: about 1.7 US cents a dispute, and a person only for what cannot be proven. Inconsistency: every ruling applies the same policy by section, and code verifies every fact and amount. Fairness: both sides get an advocate, both get the reasons in their language, a status page, and an appeal where the AI was unsure."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(0:55-1:35). The clip plays by itself; speak over it.</a:t>
            </a:r>
          </a:p>
          <a:p>
            <a:r>
              <a:t>"This is the organisers' route-deviation sample: Orchard Central to Changi T3. The rider says the driver took a long route and never told her."</a:t>
            </a:r>
          </a:p>
          <a:p>
            <a:r>
              <a:t>[Collector on screen] "Code reads the records: 24.8 km driven against 20.5 recommended, and a vehicle fire on the PIE during the trip."</a:t>
            </a:r>
          </a:p>
          <a:p>
            <a:r>
              <a:t>[Debate on screen] "The rider's advocate: she asked at 13:24 and got no answer. The driver's advocate: the PIE was on fire. Both cite the policy."</a:t>
            </a:r>
          </a:p>
          <a:p>
            <a:r>
              <a:t>[Verdict on screen] "Partially upheld, S$3.44. Rerouted for traffic but not told, so the excess-distance fare comes back. Every fact is traced to a record, it is under S$10, so it is final."</a:t>
            </a:r>
          </a:p>
          <a:p>
            <a:r>
              <a:t>[Notices, 中文 / Melayu] "Both parties get a notice built by code, in four languages."</a:t>
            </a:r>
          </a:p>
          <a:p>
            <a:r>
              <a:t>Handover: "But what happens when the AI gets it wrong?"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(1:35-2:10).</a:t>
            </a:r>
          </a:p>
          <a:p>
            <a:r>
              <a:t>"This is the case we are proudest of, because the system was wrong and caught itself."</a:t>
            </a:r>
          </a:p>
          <a:p>
            <a:r>
              <a:t>"The rider cancelled after 23 minutes and was charged S$5. But the driver-assignment record has a logged data problem."</a:t>
            </a:r>
          </a:p>
          <a:p>
            <a:r>
              <a:t>[Judge on screen] "First draft: refund S$5 at 62% confidence, resting on that questioned record. The code judge blocks it."</a:t>
            </a:r>
          </a:p>
          <a:p>
            <a:r>
              <a:t>[Debate on screen] "Second draft: still S$5, confidence now 85%, with no new evidence. Code sees the same payout and sends it to a person."</a:t>
            </a:r>
          </a:p>
          <a:p>
            <a:r>
              <a:t>"That is why code checks the model, and the model never checks itself."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(2:10-2:22).</a:t>
            </a:r>
          </a:p>
          <a:p>
            <a:r>
              <a:t>"A rider writes: the driver kept commenting on my body and said he knows where I stay. The safety scan marks it P0 in under a second. No advocates, no judge: a person, and no money moves."</a:t>
            </a:r>
          </a:p>
          <a:p>
            <a:r>
              <a:t>"On two blind harassment sets: 10 out of 10 and 6 out of 6."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(2:22-2:47).</a:t>
            </a:r>
          </a:p>
          <a:p>
            <a:r>
              <a:t>[Review desk on screen] "Every case the AI hands over lands on the review desk: why it stopped, the facts in dispute, and a Tencent ADP assistant for policy questions. The person decides, and that decision can become a precedent only after an evaluation gate."</a:t>
            </a:r>
          </a:p>
          <a:p>
            <a:r>
              <a:t>[Status page on screen] "Riders and drivers get a status page: every step to the final decision, without exposing the AI's internals."</a:t>
            </a:r>
          </a:p>
          <a:p>
            <a:r>
              <a:t>"And they can appeal, but only where the AI was unsure, below 80% confidence, once, and only with new evidence. The AI checks it first; if it is still unsure, a person decides."</a:t>
            </a:r>
          </a:p>
          <a:p>
            <a:r>
              <a:t>Handover: "So how do we know it works?"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(2:47-3:15)</a:t>
            </a:r>
          </a:p>
          <a:p>
            <a:r>
              <a:t>"What we are proudest of is engineering, not prompts. Code checks the model: every fact and amount is verified against a record before money moves. When it cannot be proven, a person decides: 52 cases, zero wrong payouts. Safety is decided in code; the model can never lower it. Advocates only see what their role needs. Every step is replayable and every ruling is in a hash-chained audit log. And it is ready for Ryde's API in shadow mode at under two cents a dispute."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3800x2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008"/>
            <a:ext cx="12191695" cy="69300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3E635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502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FB0D9"/>
                </a:solidFill>
                <a:latin typeface="Segoe UI"/>
              </a:rPr>
              <a:t>Speaker 1 · 0:45–0:55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A team of AI agents, checked by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783080" cy="1234440"/>
          </a:xfrm>
          <a:prstGeom prst="roundRect">
            <a:avLst>
              <a:gd name="adj" fmla="val 18000"/>
            </a:avLst>
          </a:prstGeom>
          <a:solidFill>
            <a:srgbClr val="14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Records</a:t>
            </a:r>
          </a:p>
          <a:p>
            <a:pPr algn="ctr"/>
            <a:r>
              <a:rPr sz="1300" b="0">
                <a:solidFill>
                  <a:srgbClr val="DBE4FF"/>
                </a:solidFill>
                <a:latin typeface="Segoe UI"/>
              </a:rPr>
              <a:t>GPS · chat · fare · policy v2.1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057400"/>
            <a:ext cx="2148840" cy="105156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Rider advocate</a:t>
            </a:r>
          </a:p>
          <a:p>
            <a:pPr algn="ctr"/>
            <a:r>
              <a:rPr sz="1300" b="0">
                <a:solidFill>
                  <a:srgbClr val="DBE4FF"/>
                </a:solidFill>
                <a:latin typeface="Segoe UI"/>
              </a:rPr>
              <a:t>argues + cites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3611880"/>
            <a:ext cx="2148840" cy="105156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Driver advocate</a:t>
            </a:r>
          </a:p>
          <a:p>
            <a:pPr algn="ctr"/>
            <a:r>
              <a:rPr sz="1300" b="0">
                <a:solidFill>
                  <a:srgbClr val="DBE4FF"/>
                </a:solidFill>
                <a:latin typeface="Segoe UI"/>
              </a:rPr>
              <a:t>argues + cites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743200"/>
            <a:ext cx="1783080" cy="1234440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B1530"/>
                </a:solidFill>
                <a:latin typeface="Segoe UI"/>
              </a:rPr>
              <a:t>Judge</a:t>
            </a:r>
          </a:p>
          <a:p>
            <a:pPr algn="ctr"/>
            <a:r>
              <a:rPr sz="1300" b="0">
                <a:solidFill>
                  <a:srgbClr val="334155"/>
                </a:solidFill>
                <a:latin typeface="Segoe UI"/>
              </a:rPr>
              <a:t>rules with reasons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743200"/>
            <a:ext cx="1783080" cy="1234440"/>
          </a:xfrm>
          <a:prstGeom prst="roundRect">
            <a:avLst>
              <a:gd name="adj" fmla="val 18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B1530"/>
                </a:solidFill>
                <a:latin typeface="Segoe UI"/>
              </a:rPr>
              <a:t>Code checks</a:t>
            </a:r>
          </a:p>
          <a:p>
            <a:pPr algn="ctr"/>
            <a:r>
              <a:rPr sz="1300" b="0">
                <a:solidFill>
                  <a:srgbClr val="1A2E05"/>
                </a:solidFill>
                <a:latin typeface="Segoe UI"/>
              </a:rPr>
              <a:t>every fact + amount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2057400"/>
            <a:ext cx="1920240" cy="1051560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Paid</a:t>
            </a:r>
          </a:p>
          <a:p>
            <a:pPr algn="ctr"/>
            <a:r>
              <a:rPr sz="1300" b="0">
                <a:solidFill>
                  <a:srgbClr val="DBE4FF"/>
                </a:solidFill>
                <a:latin typeface="Segoe UI"/>
              </a:rPr>
              <a:t>proven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3611880"/>
            <a:ext cx="1920240" cy="105156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A person</a:t>
            </a:r>
          </a:p>
          <a:p>
            <a:pPr algn="ctr"/>
            <a:r>
              <a:rPr sz="1300" b="0">
                <a:solidFill>
                  <a:srgbClr val="DBE4FF"/>
                </a:solidFill>
                <a:latin typeface="Segoe UI"/>
              </a:rPr>
              <a:t>not proven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240280" y="2587752"/>
            <a:ext cx="457200" cy="772668"/>
          </a:xfrm>
          <a:prstGeom prst="line">
            <a:avLst/>
          </a:prstGeom>
          <a:ln w="31750">
            <a:solidFill>
              <a:srgbClr val="9FB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40280" y="3360420"/>
            <a:ext cx="457200" cy="781812"/>
          </a:xfrm>
          <a:prstGeom prst="line">
            <a:avLst/>
          </a:prstGeom>
          <a:ln w="31750">
            <a:solidFill>
              <a:srgbClr val="9FB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46320" y="2587752"/>
            <a:ext cx="457200" cy="772668"/>
          </a:xfrm>
          <a:prstGeom prst="line">
            <a:avLst/>
          </a:prstGeom>
          <a:ln w="31750">
            <a:solidFill>
              <a:srgbClr val="9FB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846320" y="3360420"/>
            <a:ext cx="457200" cy="781812"/>
          </a:xfrm>
          <a:prstGeom prst="line">
            <a:avLst/>
          </a:prstGeom>
          <a:ln w="31750">
            <a:solidFill>
              <a:srgbClr val="9FB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86600" y="3360420"/>
            <a:ext cx="457200" cy="0"/>
          </a:xfrm>
          <a:prstGeom prst="line">
            <a:avLst/>
          </a:prstGeom>
          <a:ln w="31750">
            <a:solidFill>
              <a:srgbClr val="9FB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326880" y="2587752"/>
            <a:ext cx="457200" cy="772668"/>
          </a:xfrm>
          <a:prstGeom prst="line">
            <a:avLst/>
          </a:prstGeom>
          <a:ln w="31750">
            <a:solidFill>
              <a:srgbClr val="9FB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26880" y="3360420"/>
            <a:ext cx="457200" cy="781812"/>
          </a:xfrm>
          <a:prstGeom prst="line">
            <a:avLst/>
          </a:prstGeom>
          <a:ln w="31750">
            <a:solidFill>
              <a:srgbClr val="9FB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9FB0D9"/>
                </a:solidFill>
                <a:latin typeface="Segoe UI"/>
              </a:rPr>
              <a:t>Around them: evidence, photo, fraud and fairness checks.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9FB0D9"/>
                </a:solidFill>
                <a:latin typeface="Segoe UI"/>
              </a:rPr>
              <a:t>Safety cases skip the AI ruling and go straight to a person.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3E635"/>
                </a:solidFill>
                <a:latin typeface="Segoe UI"/>
              </a:rPr>
              <a:t>HOW WE KNOW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502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FB0D9"/>
                </a:solidFill>
                <a:latin typeface="Segoe UI"/>
              </a:rPr>
              <a:t>Speaker 3 · 3:15–3:35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Tested on cases it had never seen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74519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377440"/>
                <a:gridCol w="3566160"/>
              </a:tblGrid>
              <a:tr h="6217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Test set</a:t>
                      </a:r>
                    </a:p>
                  </a:txBody>
                  <a:tcPr marL="18288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Correct</a:t>
                      </a:r>
                    </a:p>
                  </a:txBody>
                  <a:tcPr marL="182880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 marL="182880" anchor="ctr">
                    <a:solidFill>
                      <a:srgbClr val="1E3A8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Organisers' samples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3 / 3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DISP-001 to 003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Blind set, organisers' format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25 / 30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written by another model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Regression, policy v2.1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44 / 52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0 wrong payouts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  <a:latin typeface="Segoe UI"/>
                        </a:rPr>
                        <a:t>Harassment, blind (new)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A3E635"/>
                          </a:solidFill>
                          <a:latin typeface="Segoe UI"/>
                        </a:rPr>
                        <a:t>10/10 · 6/6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9FB0D9"/>
                          </a:solidFill>
                          <a:latin typeface="Segoe UI"/>
                        </a:rPr>
                        <a:t>always reaches a person</a:t>
                      </a:r>
                    </a:p>
                  </a:txBody>
                  <a:tcPr marL="182880" anchor="ctr">
                    <a:solidFill>
                      <a:srgbClr val="1422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DBE4FF"/>
                </a:solidFill>
                <a:latin typeface="Segoe UI"/>
              </a:rPr>
              <a:t>Most misses are cases handed to a person: that costs minutes, not money.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3E635"/>
                </a:solidFill>
                <a:latin typeface="Segoe UI"/>
              </a:rPr>
              <a:t>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502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FB0D9"/>
                </a:solidFill>
                <a:latin typeface="Segoe UI"/>
              </a:rPr>
              <a:t>Speaker 3 · 3:35–4:00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Built and ready: shadow mode on real disputes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1554480"/>
          </a:xfrm>
          <a:prstGeom prst="roundRect">
            <a:avLst>
              <a:gd name="adj" fmla="val 18000"/>
            </a:avLst>
          </a:prstGeom>
          <a:solidFill>
            <a:srgbClr val="14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Segoe UI"/>
              </a:rPr>
              <a:t>1. Read live disputes</a:t>
            </a:r>
          </a:p>
          <a:p>
            <a:pPr algn="ctr"/>
            <a:r>
              <a:rPr sz="1600" b="0">
                <a:solidFill>
                  <a:srgbClr val="DBE4FF"/>
                </a:solidFill>
                <a:latin typeface="Segoe UI"/>
              </a:rPr>
              <a:t>through Ryde's API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2880360"/>
            <a:ext cx="320040" cy="0"/>
          </a:xfrm>
          <a:prstGeom prst="line">
            <a:avLst/>
          </a:prstGeom>
          <a:ln w="31750">
            <a:solidFill>
              <a:srgbClr val="A3E6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34840" y="2103120"/>
            <a:ext cx="3383280" cy="1554480"/>
          </a:xfrm>
          <a:prstGeom prst="roundRect">
            <a:avLst>
              <a:gd name="adj" fmla="val 18000"/>
            </a:avLst>
          </a:prstGeom>
          <a:solidFill>
            <a:srgbClr val="14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Segoe UI"/>
              </a:rPr>
              <a:t>2. Rule next to the human</a:t>
            </a:r>
          </a:p>
          <a:p>
            <a:pPr algn="ctr"/>
            <a:r>
              <a:rPr sz="1600" b="0">
                <a:solidFill>
                  <a:srgbClr val="DBE4FF"/>
                </a:solidFill>
                <a:latin typeface="Segoe UI"/>
              </a:rPr>
              <a:t>pays nothing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18120" y="2880360"/>
            <a:ext cx="320040" cy="0"/>
          </a:xfrm>
          <a:prstGeom prst="line">
            <a:avLst/>
          </a:prstGeom>
          <a:ln w="31750">
            <a:solidFill>
              <a:srgbClr val="A3E6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138160" y="2103120"/>
            <a:ext cx="3383280" cy="1554480"/>
          </a:xfrm>
          <a:prstGeom prst="roundRect">
            <a:avLst>
              <a:gd name="adj" fmla="val 18000"/>
            </a:avLst>
          </a:prstGeom>
          <a:solidFill>
            <a:srgbClr val="14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Segoe UI"/>
              </a:rPr>
              <a:t>3. Earn the right</a:t>
            </a:r>
          </a:p>
          <a:p>
            <a:pPr algn="ctr"/>
            <a:r>
              <a:rPr sz="1600" b="0">
                <a:solidFill>
                  <a:srgbClr val="DBE4FF"/>
                </a:solidFill>
                <a:latin typeface="Segoe UI"/>
              </a:rPr>
              <a:t>small cases alone, once agreement is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Ryde</a:t>
            </a:r>
            <a:r>
              <a:rPr sz="4800" b="1">
                <a:solidFill>
                  <a:srgbClr val="A3E635"/>
                </a:solidFill>
                <a:latin typeface="Segoe UI"/>
              </a:rPr>
              <a:t>Resolve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DBE4FF"/>
                </a:solidFill>
                <a:latin typeface="Segoe UI"/>
              </a:rPr>
              <a:t>Fair, explainable ride-dispute rulings in minutes, not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92" y="0"/>
            <a:ext cx="117987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THE PROBLEM · RYDE'S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>Speaker 1 · 0:00–0:20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Rule rider–driver disputes fairly, fast, without a person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DBE4FF"/>
                </a:solidFill>
                <a:latin typeface="Segoe UI"/>
              </a:rPr>
              <a:t>“Gather evidence, build cases, apply company policy and issue fair rulings quickly, transparently, and without human intervention for the majority of standard disputes.”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AA6"/>
                </a:solidFill>
                <a:latin typeface="Segoe UI"/>
              </a:rPr>
              <a:t>Ryde track brief, Tencent Cloud AI CAN DO IT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2697480" cy="21031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24–72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69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to resolve a dispute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3017520"/>
            <a:ext cx="2697480" cy="21031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32461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High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4069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every dispute read by 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3017520"/>
            <a:ext cx="2697480" cy="21031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32461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Inconsistent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069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two agents, same facts, different rulings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984" y="3017520"/>
            <a:ext cx="2697480" cy="210312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32461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069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riders and drivers who feel treated unfairly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A3E635"/>
                </a:solidFill>
                <a:latin typeface="Segoe UI"/>
              </a:rPr>
              <a:t>Our rule: automate what can be proven from the records. A person decides the rest.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PAIN POINT →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>Speaker 1 · 0:20–0:45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Each pain point has an answer you can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11292840" cy="914400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FCA5A5"/>
                </a:solidFill>
                <a:latin typeface="Segoe UI"/>
              </a:rPr>
              <a:t>24–72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847088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709928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Under 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Agents work in parallel on the trip records: GPS, chat, fare, photos,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33472"/>
            <a:ext cx="11292840" cy="914400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1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FCA5A5"/>
                </a:solidFill>
                <a:latin typeface="Segoe UI"/>
              </a:rPr>
              <a:t>High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88036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43200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~1.7 US¢ per dispute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136391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 person only for what cannot be proven, safety, or over S$50.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66744"/>
            <a:ext cx="11292840" cy="914400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41063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FCA5A5"/>
                </a:solidFill>
                <a:latin typeface="Segoe UI"/>
              </a:rPr>
              <a:t>Inconsistent rulings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913631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76472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Same policy, checked by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169663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Every ruling cites policy v2.1 by section; code verifies every fact and amount against a record.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00016"/>
            <a:ext cx="11292840" cy="914400"/>
          </a:xfrm>
          <a:prstGeom prst="roundRect">
            <a:avLst>
              <a:gd name="adj" fmla="val 10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7433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FCA5A5"/>
                </a:solidFill>
                <a:latin typeface="Segoe UI"/>
              </a:rPr>
              <a:t>Feeling treated unfairly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946904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9FB0D9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809744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Both sides argued and told 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202936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Rider and driver advocates; reasons sent to both in 4 languages; status page; appeal with new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9FB0D9"/>
                </a:solidFill>
                <a:latin typeface="Segoe UI"/>
              </a:rPr>
              <a:t>Watch for each of these in the four demos that follow.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DEMO 1 · ORGANISERS' SAMPLE DISP-001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>Speaker 1 · 0:55–1:35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Route deviation: proven, paid, explained</a:t>
            </a:r>
          </a:p>
        </p:txBody>
      </p:sp>
      <p:pic>
        <p:nvPicPr>
          <p:cNvPr id="5" name="demo1_route_DISP-00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458200" y="146304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727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24.8 km vs 20.5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93392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Code reads the records: driven vs recommended route, plus a vehicle fire on the PIE.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53512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Two advocates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8386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Rider: asked at 13:24, no reply. Driver: the PIE was on fire. Both cite policy.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43983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5537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S$3.44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7433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Rerouted but not told (s1.3): the excess-distance fare only. Every fact traced, under S$10, executed.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Notice to both parties in English · 中文 · Melayu · தமிழ்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4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DEMO 2 · CANCELLATION FEE F2-17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>Speaker 2 · 1:35–2:10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The AI was wrong. Code caught it.</a:t>
            </a:r>
          </a:p>
        </p:txBody>
      </p:sp>
      <p:pic>
        <p:nvPicPr>
          <p:cNvPr id="5" name="demo2_codejudge_F2-1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458200" y="146304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727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Draft 1: S$5 · 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93392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The Judge refunds, resting on an assignment record with a logged data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53512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Blocked by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8386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The code judge rejects the draft and lists what it cannot prove.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43983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5537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Draft 2: S$5 · 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7433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Same payout, higher confidence, no new evidence. Code stops it again: a person decides.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Code checks the model. The model never checks itself.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8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DEMO 3 · SAFETY SI-001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>Speaker 2 · 2:10–2:22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Safety is never automated</a:t>
            </a:r>
          </a:p>
        </p:txBody>
      </p:sp>
      <p:pic>
        <p:nvPicPr>
          <p:cNvPr id="5" name="demo3_safety_SI-00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458200" y="146304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727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P0 in under 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93392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"He kept commenting on my body and said he knows where I stay."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53512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No debate, no judge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8386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Straight to a person. No money moves until a specialist 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43983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5537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10/10 · 6/6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7433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Harassment, two blind test sets, after we hardened this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Harassment routes on the message itself, not on a keyword list alone.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DEMO 4 · PEOPLE IN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>Speaker 2 · 2:22–2:47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A person is always one step away</a:t>
            </a:r>
          </a:p>
        </p:txBody>
      </p:sp>
      <p:pic>
        <p:nvPicPr>
          <p:cNvPr id="5" name="demo4_people_review_statu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7818120" cy="4397692"/>
          </a:xfrm>
          <a:prstGeom prst="rect">
            <a:avLst/>
          </a:prstGeom>
          <a:ln>
            <a:solidFill>
              <a:srgbClr val="2B3B6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458200" y="146304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727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Review 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93392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Why the AI stopped, the facts in dispute, and Tencent ADP for policy questions. The reviewer decides.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953512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Track this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48386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Riders and drivers see each step to the final decision. No AI internals shown.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443983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5537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A3E635"/>
                </a:solidFill>
                <a:latin typeface="Segoe UI"/>
              </a:rPr>
              <a:t>Appeal = new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74336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DBE4FF"/>
                </a:solidFill>
                <a:latin typeface="Segoe UI"/>
              </a:rPr>
              <a:t>Only on rulings under 80% confidence, once. The AI re-checks first; a person if still unsure.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B0D9"/>
                </a:solidFill>
                <a:latin typeface="Segoe UI"/>
              </a:rPr>
              <a:t>Saying "I disagree" is not new evidence: the AI keeps deciding, people see what it cannot settle.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A6"/>
                </a:solidFill>
                <a:latin typeface="Segoe UI"/>
              </a:rPr>
              <a:t>Recorded from the live site (saved replay, no model called) · http://43.134.17.192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4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A3E635"/>
                </a:solidFill>
                <a:latin typeface="Segoe UI"/>
              </a:rPr>
              <a:t>ENGINEERING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320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FB0D9"/>
                </a:solidFill>
                <a:latin typeface="Segoe UI"/>
              </a:rPr>
              <a:t>Speaker 3 · 2:47–3:15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egoe UI"/>
              </a:rPr>
              <a:t>Built so a wrong payout is the hardest thing to happen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2821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Code checks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6712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 deterministic code judge verifies every fact and amount against a record before money moves. It caught F2-17.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002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2821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Escalate, never misjudge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6712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Unprovable, low-confidence, over S$50 or unsafe: a person decides. 52 cases, 0 wrong payouts.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2821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Safety floor in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6712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Physical, sexual, stalking and legal wording is routed by code. The LLM can raise urgency, never lower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3989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Need-to-know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7880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Advocates never see fraud scores or a party's history: they argue the case, not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6118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73989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Observable and auditable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7880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Every agent step is streamed and replayable; every ruling cites its policy section; hash-chained audit log.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61188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4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3989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3E635"/>
                </a:solidFill>
                <a:latin typeface="Segoe UI"/>
              </a:rPr>
              <a:t>Ready for Ryde, cheap to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78808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DBE4FF"/>
                </a:solidFill>
                <a:latin typeface="Segoe UI"/>
              </a:rPr>
              <a:t>Shadow mode on Ryde's API. ~1.7 US¢ a dispute on an open 120B model; can run in-house.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FB0D9"/>
                </a:solidFill>
                <a:latin typeface="Segoe UI"/>
              </a:rPr>
              <a:t>Brief coverage: the 3 MVP agents plus evidence collection, fraud, policy &amp; precedent RAG, photo checks, escalation, reviewed-precedent learning and P0 safety routing.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