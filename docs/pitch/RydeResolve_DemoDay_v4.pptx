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1" r:id="rId13"/>
    <p:sldId id="272" r:id="rId11"/>
    <p:sldId id="273" r:id="rId9"/>
    <p:sldId id="274" r:id="rId23"/>
    <p:sldId id="275" r:id="rId24"/>
    <p:sldId id="276" r:id="rId25"/>
    <p:sldId id="277" r:id="rId26"/>
    <p:sldId id="278" r:id="rId27"/>
    <p:sldId id="263" r:id="rId15"/>
    <p:sldId id="270" r:id="rId22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5.xml"/><Relationship Id="rId11" Type="http://schemas.openxmlformats.org/officeDocument/2006/relationships/slide" Target="slides/slide14.xml"/><Relationship Id="rId12" Type="http://schemas.openxmlformats.org/officeDocument/2006/relationships/slide" Target="slides/slide10.xml"/><Relationship Id="rId13" Type="http://schemas.openxmlformats.org/officeDocument/2006/relationships/slide" Target="slides/slide13.xml"/><Relationship Id="rId15" Type="http://schemas.openxmlformats.org/officeDocument/2006/relationships/slide" Target="slides/slide12.xml"/><Relationship Id="rId22" Type="http://schemas.openxmlformats.org/officeDocument/2006/relationships/slide" Target="slides/slide9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· about 0:00–0:10</a:t>
            </a:r>
          </a:p>
          <a:p>
            <a:r>
              <a:t>"Good afternoon. We are the Tung Tung team, and this is RydeResolve: AI agents that settle disputes between Ryde riders and drivers, fairly, in minutes instead of days."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· about 0:49–1:32</a:t>
            </a:r>
          </a:p>
          <a:p>
            <a:r>
              <a:t>[0–14 s, agents light up] "First, agents that work together. This is the organisers' own sample replaying: eleven agents, each with one job, passing the case along."</a:t>
            </a:r>
          </a:p>
          <a:p>
            <a:r>
              <a:t>[14–19 s, red box] "The collector finds the facts: 4.3 km off route, and a vehicle fire on the PIE."</a:t>
            </a:r>
          </a:p>
          <a:p>
            <a:r>
              <a:t>[19–27 s, debate] "Then a rider advocate and a driver advocate argue, each citing policy. Why? One AI asked for one answer tends to side with whoever complained. Two sides and a judge means both stories are heard."</a:t>
            </a:r>
          </a:p>
          <a:p>
            <a:r>
              <a:t>[27–36 s, ruling] "The judge: the detour was fair, but the rider was never told, so S$3.44 comes back."</a:t>
            </a:r>
          </a:p>
          <a:p>
            <a:r>
              <a:t>[36–44 s, 中文] "Both sides get the reasons in their own language. The impact: the same facts get the same ruling, with reasons, in about ninety seconds."</a:t>
            </a:r>
          </a:p>
          <a:p>
            <a:r>
              <a:t>Handover: "But an AI judge can be wrong."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· about 0:22–0:49</a:t>
            </a:r>
          </a:p>
          <a:p>
            <a:r>
              <a:t>"Our problem statement, from Ryde: gather evidence, apply company policy and issue fair rulings, quickly and transparently, without a person for most standard disputes. Today people wait days, two staff can rule differently on the same facts, nobody explains why, evidence can be faked, and a safety report can sit in a queue. So our rule: the AI decides what the records prove, code guards the money, and a person decides the rest."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 only (results). 44/52 was the scored run; 45/52 on the submitted code, where a few automatic rulings were wrong in one re-run (README). Say so if asked; every miss is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· about 0:10–0:22</a:t>
            </a:r>
          </a:p>
          <a:p>
            <a:r>
              <a:t>"Take this photo. A driver claimed seventy dollars for a stained seat. There is no stain: an AI image generator made it. RydeResolve caught it in seconds and handed it to a person."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 only (full architecture). Not part of the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 only (engineering decisions). Not part of the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· about 1:32–2:00</a:t>
            </a:r>
          </a:p>
          <a:p>
            <a:r>
              <a:t>"Second, guardrails. The judge's first draft refunds five dollars at 62% confidence, resting on a record the platform logged as faulty. Our code judge blocks it. The second draft: same five dollars, now 85%, no new evidence. Code sends it to a person. Why code, not another AI? A model can talk itself into being sure; a rule cannot. The impact: Ryde's money moves only when the facts and the amount match a record."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· about 2:00–2:32</a:t>
            </a:r>
          </a:p>
          <a:p>
            <a:r>
              <a:t>[0–9 s, replay] "New since our video. A driver claims eighty dollars for a sticky seat. Routine, yet the system stops it and sends it to a person."</a:t>
            </a:r>
          </a:p>
          <a:p>
            <a:r>
              <a:t>[9–18 s, chat] "Why? It reads the whole trip, and in the chat the rider wrote: give me your number, I won't let you go."</a:t>
            </a:r>
          </a:p>
          <a:p>
            <a:r>
              <a:t>[18–34 s, safety] "The safety agent rates that imminent: no charge, the pair is never matched again, the passenger is held for review. Harassment hides inside ordinary claims, often against drivers, and a fee-only check would miss it. Blind tests: ten of ten."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· about 2:32–3:13</a:t>
            </a:r>
          </a:p>
          <a:p>
            <a:r>
              <a:t>[0–12 s, IM-04] "Third, photos. Here a driver claims a cleaning fee for muddy mats."</a:t>
            </a:r>
          </a:p>
          <a:p>
            <a:r>
              <a:t>[12–19 s, red boxes] "First, code reads the photo's own data: taken five minutes after drop-off, thirty metres away."</a:t>
            </a:r>
          </a:p>
          <a:p>
            <a:r>
              <a:t>[19–24 s, vision] "Then a vision model looks: muddy shoes, matching the claim. The honest driver gets paid."</a:t>
            </a:r>
          </a:p>
          <a:p>
            <a:r>
              <a:t>[24–50 s, IM-12] "And the photo from the start: time and place pass, but the vision model sees a clean seat and an AI watermark, so the rider is not charged and a person decides. Why two layers? Fake photos are now one click away. The model can only raise doubts, never approve money, so a fake has to fool both."</a:t>
            </a:r>
          </a:p>
          <a:p>
            <a:r>
              <a:t>Handover: "And when the AI is unsure, people take over."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· about 3:13–3:44</a:t>
            </a:r>
          </a:p>
          <a:p>
            <a:r>
              <a:t>[0–20 s, review desk] "This is the review desk, where the AI hands cases over: why it stopped, the facts in dispute, and a Tencent ADP assistant for policy. Why do we need it? Automation fails on the hard cases: safety, fakes, large amounts. Without a desk they get a wrong ruling or start again from zero. Here the reviewer starts with the evidence already gathered."</a:t>
            </a:r>
          </a:p>
          <a:p>
            <a:r>
              <a:t>[20–29 s, status page] "Riders and drivers follow their case on a status page, in four languages, with one appeal when the AI was unsure. Nobody is left guessing."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· about 3:44–4:05</a:t>
            </a:r>
          </a:p>
          <a:p>
            <a:r>
              <a:t>"Tested on cases it never saw: the organisers' samples three of three, a blind set 25 of 30, our regression 45 of 52. And it is ready: one setting connects Ryde's API in shadow mode, ruling beside your team and paying nothing, at under two cents a dispute. RydeResolve: fair rulings in minutes, not days. Thank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7.jpg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380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008"/>
            <a:ext cx="12191695" cy="69300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92640" y="2743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ENGINEERING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Built so a wrong payout is the hardest thing to happen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2821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Code checks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6712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 deterministic code judge verifies every fact and amount against a record before money moves. It caught F2-17 (when the Judge lists the record).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002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72821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Escalate, never misjudge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6712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Unprovable, low-confidence, over S$50 or unsafe: a person decides. A wrong payout is the failure we test hardest.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2821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Safety floor in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6712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Physical, sexual, stalking and legal wording is routed by code. The LLM can raise urgency, never lower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3989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Need-to-know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7880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Advocates never see fraud scores or a party's history: they argue the case, not the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6118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73989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Observable and auditable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7880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Every agent step is streamed and replayable; every ruling cites its policy section; hash-chained audit log.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6118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73989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Ready for Ryde, cheap to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7880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Shadow mode on Ryde's API. ~1.7 US¢ a dispute on an open 120B model; can run in-house.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Brief coverage: the 3 MVP agents plus evidence collection, fraud, policy &amp; precedent RAG, photo checks, escalation, reviewed-precedent learning and P0 safety routing.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3E635"/>
                </a:solidFill>
                <a:latin typeface="Segoe UI"/>
              </a:rPr>
              <a:t>HOW WE KNOW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502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FB0D9"/>
                </a:solidFill>
                <a:latin typeface="Segoe U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Tested on cases it had never seen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74519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377440"/>
                <a:gridCol w="3566160"/>
              </a:tblGrid>
              <a:tr h="6217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Test set</a:t>
                      </a:r>
                    </a:p>
                  </a:txBody>
                  <a:tcPr marL="18288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Correct</a:t>
                      </a:r>
                    </a:p>
                  </a:txBody>
                  <a:tcPr marL="18288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Note</a:t>
                      </a:r>
                    </a:p>
                  </a:txBody>
                  <a:tcPr marL="182880" anchor="ctr">
                    <a:solidFill>
                      <a:srgbClr val="1E3A8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Organisers' samples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3 / 3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DISP-001 to 003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Blind set, organisers' format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25 / 30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written by another model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Regression, policy v2.1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44 / 52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45 / 52 on the final code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Harassment, blind (new)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10/10 · 6/6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always reaches a person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DBE4FF"/>
                </a:solidFill>
                <a:latin typeface="Segoe UI"/>
              </a:rPr>
              <a:t>Most misses are cases handed to a person: that costs minutes, not money.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92" y="0"/>
            <a:ext cx="117987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RYDERESOLVE · AI DISPUTE RESOLUTION FOR RYDE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pic>
        <p:nvPicPr>
          <p:cNvPr id="5" name="Picture 4" descr="photo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6456902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064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AA6"/>
                </a:solidFill>
                <a:latin typeface="Segoe UI"/>
              </a:rPr>
              <a:t>Photo from test case IM-12 (made for our test set)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09728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A driver claimed S$70 for a stained seat with this photo.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74320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CA5A5"/>
                </a:solidFill>
                <a:latin typeface="Segoe UI"/>
              </a:rPr>
              <a:t>There is no stain. The picture was made by an AI image generator.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416052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A3E635"/>
                </a:solidFill>
                <a:latin typeface="Segoe UI"/>
              </a:rPr>
              <a:t>RydeResolve caught it in seconds, charged the rider nothing, and handed it to a person.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PROBLEM STATEMENT · RYDE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Disputes are slow, inconsistent, and easy to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DBE4FF"/>
                </a:solidFill>
                <a:latin typeface="Segoe UI"/>
              </a:rPr>
              <a:t>Problem statement (Ryde): “Gather evidence, build cases, apply company policy and issue fair rulings quickly, transparently, and without human intervention for the majority of standard disputes.”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11292840" cy="71323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FCA5A5"/>
                </a:solidFill>
                <a:latin typeface="Segoe UI"/>
              </a:rPr>
              <a:t>Riders and drivers wait 24–72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221992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12264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A3E635"/>
                </a:solidFill>
                <a:latin typeface="Segoe UI"/>
              </a:rPr>
              <a:t>A ruling in about 90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5059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Agents work on the trip records together: GPS, chat, fare, photos,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11292840" cy="71323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26664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FCA5A5"/>
                </a:solidFill>
                <a:latin typeface="Segoe UI"/>
              </a:rPr>
              <a:t>Two agents, two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99232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89504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A3E635"/>
                </a:solidFill>
                <a:latin typeface="Segoe UI"/>
              </a:rPr>
              <a:t>One policy, every fact checked by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2783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Each ruling cites Ryde's policy by section; code checks each fact and amount.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80"/>
            <a:ext cx="11292840" cy="71323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803904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FCA5A5"/>
                </a:solidFill>
                <a:latin typeface="Segoe UI"/>
              </a:rPr>
              <a:t>Nobody explains 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776472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666744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A3E635"/>
                </a:solidFill>
                <a:latin typeface="Segoe UI"/>
              </a:rPr>
              <a:t>Both sides told why, in their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00507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English · 中文 · Melayu · தமிழ், a status page, and one appeal with new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11292840" cy="71323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581144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FCA5A5"/>
                </a:solidFill>
                <a:latin typeface="Segoe UI"/>
              </a:rPr>
              <a:t>Fake or doubtful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553712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443983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A3E635"/>
                </a:solidFill>
                <a:latin typeface="Segoe UI"/>
              </a:rPr>
              <a:t>Photos checked twice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78231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Code reads when and where a photo was taken; a vision model checks what it shows.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66359"/>
            <a:ext cx="11292840" cy="71323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358383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FCA5A5"/>
                </a:solidFill>
                <a:latin typeface="Segoe UI"/>
              </a:rPr>
              <a:t>Safety lost in a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330951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221223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A3E635"/>
                </a:solidFill>
                <a:latin typeface="Segoe UI"/>
              </a:rPr>
              <a:t>Safety goes straight to a person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559551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Harassment in the complaint or in the chat: decided in code, never by the model alone.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533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Our rule: AI decides what the records prove. Code guards the money. A person decides the rest.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① AGENTS THAT WORK TOGETHER · ORGANISERS' SAMPLE DISP-001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Each side gets an advocate. A judge rules on the policy.</a:t>
            </a:r>
          </a:p>
        </p:txBody>
      </p:sp>
      <p:pic>
        <p:nvPicPr>
          <p:cNvPr id="5" name="v4_agents_DISP-00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458200" y="146304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7276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11 agents, one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7510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Collector reads GPS, fare and traffic records: a vehicle fire on the PIE. Fraud, photo and policy checks run in parallel.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953512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Rider vs driver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465576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Each advocate argues one side and cites the policy. Neither sees fraud scores: they argue the case, not the person.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43983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5537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S$3.44, told to both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95604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Rerouted for the fire but never told the rider: excess fare back, s1.2–1.3. Notice in 4 languages.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Rider and driver each have someone arguing for them, and both are told why.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http://43.134.17.192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② GUARDRAILS · CANCELLATION FEE F2-17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The AI was confidently wrong. Code stopped the payout.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0D9"/>
                </a:solidFill>
                <a:latin typeface="Segoe UI"/>
              </a:rPr>
              <a:t>Judge, draft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Segoe UI"/>
              </a:rPr>
              <a:t>Refund S$5 · confidence 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Rests on a driver-assignment record the platform logged as faulty.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860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645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0D9"/>
                </a:solidFill>
                <a:latin typeface="Segoe UI"/>
              </a:rPr>
              <a:t>Code judge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FCA5A5"/>
                </a:solidFill>
                <a:latin typeface="Segoe UI"/>
              </a:rPr>
              <a:t>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A ruling cannot rest on a record with a logged data problem.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22860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645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0D9"/>
                </a:solidFill>
                <a:latin typeface="Segoe UI"/>
              </a:rPr>
              <a:t>Judge, draft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Segoe UI"/>
              </a:rPr>
              <a:t>Refund S$5 · confidence 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No new evidence. It just dropped the faulty record from its list of facts.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22860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645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0D9"/>
                </a:solidFill>
                <a:latin typeface="Segoe UI"/>
              </a:rPr>
              <a:t>Code judge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To a person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Same payout as the blocked draft, without the record it rested 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Every ruling passes these checks before anything happens: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2976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Facts and amounts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17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checked against a record, in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2062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42976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Safety, harassment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617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to a person; the model can raise urgency, never lower 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2062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42976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Over S$50 or unsure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4617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to a person (policy gate in code)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2120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Photos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a vision model can raise doubts, never approve money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51960" y="51206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6552" y="52120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Notices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written by code from the ruling: never promise money it did not give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51206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52120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Appeal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once, under 80% confidence, with new evidence; AI re-checks, else a person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Code checks the model. The model never checks itself.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② GUARDRAILS · NEW SINCE THE VIDEO · CASE HR-03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A cleaning-fee claim. The chat shows the driver was harassed.</a:t>
            </a:r>
          </a:p>
        </p:txBody>
      </p:sp>
      <p:pic>
        <p:nvPicPr>
          <p:cNvPr id="5" name="v4_harass_HR-0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458200" y="146304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7276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Looks routine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7510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Driver claims S$80: sticky drink on the seat, photos and receipt attached.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953512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The chat says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465576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"give me ur number… i wont let u go". The chat check labels it a threat.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43983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5537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To a person,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95604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No automatic charge or refund. A safety reviewer sees the chat, the claim and why it stopped.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We read the whole record, not only the complaint, and drivers are protected too.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http://43.134.17.192 · blind harassment sets 10/10 and 6/6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8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③ PHOTO CHECKS · CASES IM-04 AND IM-12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Two checks on every photo: its data, then its content</a:t>
            </a:r>
          </a:p>
        </p:txBody>
      </p:sp>
      <p:pic>
        <p:nvPicPr>
          <p:cNvPr id="5" name="v4_photos_IM-04_IM-1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pic>
        <p:nvPicPr>
          <p:cNvPr id="8" name="Picture 7" descr="photo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463040"/>
            <a:ext cx="2401238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58200" y="310896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A3E635"/>
                </a:solidFill>
                <a:latin typeface="Segoe UI"/>
              </a:rPr>
              <a:t>IM-04 · taken 5 min after drop-off, 30 m away, mud seen → fee stands</a:t>
            </a:r>
          </a:p>
        </p:txBody>
      </p:sp>
      <p:pic>
        <p:nvPicPr>
          <p:cNvPr id="10" name="Picture 9" descr="photo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730752"/>
            <a:ext cx="2131996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5376672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CA5A5"/>
                </a:solidFill>
                <a:latin typeface="Segoe UI"/>
              </a:rPr>
              <a:t>IM-12 · no stain, AI watermark → rider not charged, to a person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Honest drivers get paid. Faked photos never move money.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http://43.134.17.192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FOR THE PEOPLE INVOLVED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A person is always one step away</a:t>
            </a:r>
          </a:p>
        </p:txBody>
      </p:sp>
      <p:pic>
        <p:nvPicPr>
          <p:cNvPr id="5" name="demo4_people_review_statu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458200" y="146304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7276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Review desk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7510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Why the AI stopped, the facts in dispute, a Tencent ADP assistant for policy questions. The reviewer decides.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953512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Status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465576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Riders and drivers follow each step to the final decision, in plain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43983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5537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Accessible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95604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Notices in 4 languages; skip link, live updates for screen readers, higher contrast.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One appeal with new evidence where the AI was unsure; the AI re-checks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http://43.134.17.192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43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PROOF AND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Tested on cases it never saw. Ready for Ryde's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3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organisers' 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50876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645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25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331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blind set, organisers' 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0876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645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45 / 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331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regression, policy v2.1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50876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3" y="1645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10/10 · 6/6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3" y="2331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blind harassment 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9FB0D9"/>
                </a:solidFill>
                <a:latin typeface="Segoe UI"/>
              </a:rPr>
              <a:t>Most misses are cases handed to a person: minutes, not money. Every miss and its fix is published in the repo.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1188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3075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Plug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One setting connects Ryde's API in shadow mode: it rules next to your team and pays nothing.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61188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73075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Cheap to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6052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About US$0.017 a dispute on an open 120B model that can run in-house.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61188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73075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Earn 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6052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Decide small cases alone only once agreement with your team is high.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RydeResolve: fair, explainable ride-dispute rulings in minutes, not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