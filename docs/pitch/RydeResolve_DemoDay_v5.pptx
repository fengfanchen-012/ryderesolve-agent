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71" r:id="rId13"/>
    <p:sldId id="272" r:id="rId11"/>
    <p:sldId id="273" r:id="rId9"/>
    <p:sldId id="274" r:id="rId23"/>
    <p:sldId id="275" r:id="rId24"/>
    <p:sldId id="276" r:id="rId25"/>
    <p:sldId id="277" r:id="rId26"/>
    <p:sldId id="278" r:id="rId27"/>
    <p:sldId id="263" r:id="rId15"/>
    <p:sldId id="270" r:id="rId22"/>
    <p:sldId id="260" r:id="rId12"/>
    <p:sldId id="27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4.xml"/><Relationship Id="rId11" Type="http://schemas.openxmlformats.org/officeDocument/2006/relationships/slide" Target="slides/slide3.xml"/><Relationship Id="rId12" Type="http://schemas.openxmlformats.org/officeDocument/2006/relationships/slide" Target="slides/slide12.xml"/><Relationship Id="rId13" Type="http://schemas.openxmlformats.org/officeDocument/2006/relationships/slide" Target="slides/slide2.xml"/><Relationship Id="rId15" Type="http://schemas.openxmlformats.org/officeDocument/2006/relationships/slide" Target="slides/slide10.xml"/><Relationship Id="rId20" Type="http://schemas.openxmlformats.org/officeDocument/2006/relationships/slide" Target="slides/slide13.xml"/><Relationship Id="rId22" Type="http://schemas.openxmlformats.org/officeDocument/2006/relationships/slide" Target="slides/slide11.xml"/><Relationship Id="rId23" Type="http://schemas.openxmlformats.org/officeDocument/2006/relationships/slide" Target="slides/slide5.xml"/><Relationship Id="rId24" Type="http://schemas.openxmlformats.org/officeDocument/2006/relationships/slide" Target="slides/slide6.xml"/><Relationship Id="rId25" Type="http://schemas.openxmlformats.org/officeDocument/2006/relationships/slide" Target="slides/slide7.xml"/><Relationship Id="rId26" Type="http://schemas.openxmlformats.org/officeDocument/2006/relationships/slide" Target="slides/slide8.xml"/><Relationship Id="rId27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1 · about 0:00–0:10</a:t>
            </a:r>
          </a:p>
          <a:p>
            <a:r>
              <a:t>"Good afternoon. We are the Tung Tung team, and this is RydeResolve: AI agents that settle disputes between Ryde riders and drivers, fairly, in minutes instead of days."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1 · about 0:49–1:32</a:t>
            </a:r>
          </a:p>
          <a:p>
            <a:r>
              <a:t>[0–14 s, agents light up] "First, agents that work together. This is the organisers' own sample replaying: eleven agents, each with one job, passing the case along."</a:t>
            </a:r>
          </a:p>
          <a:p>
            <a:r>
              <a:t>[14–19 s, red box] "The collector finds the facts: 4.3 km off route, and a vehicle fire on the PIE."</a:t>
            </a:r>
          </a:p>
          <a:p>
            <a:r>
              <a:t>[19–27 s, debate] "Then a rider advocate and a driver advocate argue, each citing policy. Why? One AI asked for one answer tends to side with whoever complained. Two sides and a judge means both stories are heard."</a:t>
            </a:r>
          </a:p>
          <a:p>
            <a:r>
              <a:t>[27–36 s, ruling] "The judge: the detour was fair, but the rider was never told, so S$3.44 comes back."</a:t>
            </a:r>
          </a:p>
          <a:p>
            <a:r>
              <a:t>[36–44 s, 中文] "Both sides get the reasons in their own language. The impact: the same facts get the same ruling, with reasons, in about ninety seconds."</a:t>
            </a:r>
          </a:p>
          <a:p>
            <a:r>
              <a:t>Handover: "But an AI judge can be wrong."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1 · about 0:22–0:49</a:t>
            </a:r>
          </a:p>
          <a:p>
            <a:r>
              <a:t>"Our problem statement, from Ryde: gather evidence, apply company policy and issue fair rulings, quickly and transparently, without a person for most standard disputes. Today people wait days, two staff can rule differently on the same facts, nobody explains why, evidence can be faked, and a safety report can sit in a queue. So our rule: the AI decides what the records prove, code guards the money, and a person decides the rest."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BACKUP for Q&amp;A only (results). 44/52 was the scored run; 45/52 on the submitted code, where a few automatic rulings were wrong in one re-run (README). Say so if asked; every miss is in the repo.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1 · about 0:10–0:22</a:t>
            </a:r>
          </a:p>
          <a:p>
            <a:r>
              <a:t>"Take this photo. A driver claimed seventy dollars for a stained seat. There is no stain: an AI image generator made it. RydeResolve caught it in seconds and handed it to a person."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BACKUP for Q&amp;A only (full architecture). Not part of the 5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BACKUP for Q&amp;A only (learning loop). Not part of the 5 minutes. Use for "Does it learn?".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BACKUP for Q&amp;A only (engineering decisions). Not part of the 5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2 · about 1:32–2:00</a:t>
            </a:r>
          </a:p>
          <a:p>
            <a:r>
              <a:t>"Second, guardrails. The judge's first draft refunds five dollars at 62% confidence, resting on a record the platform logged as faulty. Our code judge blocks it. The second draft: same five dollars, now 85%, no new evidence. Code sends it to a person. Why code, not another AI? A model can talk itself into being sure; a rule cannot. The impact: Ryde's money moves only when the facts and the amount match a record."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2 · about 2:00–2:32</a:t>
            </a:r>
          </a:p>
          <a:p>
            <a:r>
              <a:t>[0–9 s, replay] "New since our video. A driver claims eighty dollars for a sticky seat. Routine, yet the system stops it and sends it to a person."</a:t>
            </a:r>
          </a:p>
          <a:p>
            <a:r>
              <a:t>[9–18 s, chat] "Why? It reads the whole trip, and in the chat the rider wrote: give me your number, I won't let you go."</a:t>
            </a:r>
          </a:p>
          <a:p>
            <a:r>
              <a:t>[18–34 s, safety] "The safety agent rates that imminent: no charge, the pair is never matched again, the passenger is held for review. Harassment hides inside ordinary claims, often against drivers, and a fee-only check would miss it. Blind tests: ten of ten."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2 · about 2:32–3:13</a:t>
            </a:r>
          </a:p>
          <a:p>
            <a:r>
              <a:t>[0–12 s, IM-04] "Third, photos. Here a driver claims a cleaning fee for muddy mats."</a:t>
            </a:r>
          </a:p>
          <a:p>
            <a:r>
              <a:t>[12–19 s, red boxes] "First, code reads the photo's own data: taken five minutes after drop-off, thirty metres away."</a:t>
            </a:r>
          </a:p>
          <a:p>
            <a:r>
              <a:t>[19–24 s, vision] "Then a vision model looks: muddy shoes, matching the claim. The honest driver gets paid."</a:t>
            </a:r>
          </a:p>
          <a:p>
            <a:r>
              <a:t>[24–50 s, IM-12] "And the photo from the start: time and place pass, but the vision model sees a clean seat and an AI watermark, so the rider is not charged and a person decides. Why two layers? Fake photos are now one click away. The model can only raise doubts, never approve money, so a fake has to fool both."</a:t>
            </a:r>
          </a:p>
          <a:p>
            <a:r>
              <a:t>Handover: "And when the AI is unsure, people take over."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3 · about 3:13–3:44</a:t>
            </a:r>
          </a:p>
          <a:p>
            <a:r>
              <a:t>[0–20 s, review desk] "This is the review desk, where the AI hands cases over: why it stopped, the facts in dispute, and a Tencent ADP assistant for policy. Automation fails on the hard cases: safety, fakes, large amounts. Here the reviewer starts with the evidence gathered, and once a test shows no harm, their decision becomes a precedent the AI uses next time."</a:t>
            </a:r>
          </a:p>
          <a:p>
            <a:r>
              <a:t>[20–29 s, status page] "Riders and drivers follow their case on a status page, get notices in four languages, and can appeal once when the AI was unsure."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3 · about 3:44–4:05</a:t>
            </a:r>
          </a:p>
          <a:p>
            <a:r>
              <a:t>"Tested on cases it never saw: the organisers' samples three of three, a blind set 25 of 30, our regression 45 of 52. And it is ready: one setting connects Ryde's API in shadow mode, ruling beside your team and paying nothing, at under two cents a dispute. RydeResolve: fair rulings in minutes, not days. Thank you."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5.mp4"/><Relationship Id="rId3" Type="http://schemas.openxmlformats.org/officeDocument/2006/relationships/video" Target="../media/media5.mp4"/><Relationship Id="rId4" Type="http://schemas.openxmlformats.org/officeDocument/2006/relationships/image" Target="../media/image8.png"/><Relationship Id="rId5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6.mp4"/><Relationship Id="rId3" Type="http://schemas.openxmlformats.org/officeDocument/2006/relationships/video" Target="../media/media6.mp4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1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7.mp4"/><Relationship Id="rId3" Type="http://schemas.openxmlformats.org/officeDocument/2006/relationships/video" Target="../media/media7.mp4"/><Relationship Id="rId4" Type="http://schemas.openxmlformats.org/officeDocument/2006/relationships/image" Target="../media/image10.png"/><Relationship Id="rId5" Type="http://schemas.openxmlformats.org/officeDocument/2006/relationships/image" Target="../media/image11.jpg"/><Relationship Id="rId6" Type="http://schemas.openxmlformats.org/officeDocument/2006/relationships/image" Target="../media/image7.jpg"/><Relationship Id="rId7" Type="http://schemas.openxmlformats.org/officeDocument/2006/relationships/notesSlide" Target="../notesSlides/notesSlide1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4.mp4"/><Relationship Id="rId3" Type="http://schemas.openxmlformats.org/officeDocument/2006/relationships/video" Target="../media/media4.mp4"/><Relationship Id="rId4" Type="http://schemas.openxmlformats.org/officeDocument/2006/relationships/image" Target="../media/image6.png"/><Relationship Id="rId5" Type="http://schemas.openxmlformats.org/officeDocument/2006/relationships/notesSlide" Target="../notesSlides/notesSlide1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D1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ver_3800x21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692640" y="27432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9FB0D9"/>
                </a:solidFill>
                <a:latin typeface="Segoe UI"/>
              </a:rPr>
              <a:t/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A3E635"/>
                </a:solidFill>
                <a:latin typeface="Segoe UI"/>
              </a:rPr>
              <a:t>RYDERESOLVE · AI DISPUTE RESOLUTION FOR RYDE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32004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9FB0D9"/>
                </a:solidFill>
                <a:latin typeface="Segoe UI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Segoe UI"/>
              </a:rPr>
              <a:t/>
            </a:r>
          </a:p>
        </p:txBody>
      </p:sp>
      <p:pic>
        <p:nvPicPr>
          <p:cNvPr id="5" name="Picture 4" descr="photo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868680"/>
            <a:ext cx="6456902" cy="4846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5806440"/>
            <a:ext cx="6492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AA6"/>
                </a:solidFill>
                <a:latin typeface="Segoe UI"/>
              </a:rPr>
              <a:t>Photo from test case IM-12 (made for our test set)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86600" y="1097280"/>
            <a:ext cx="466344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Segoe UI"/>
              </a:rPr>
              <a:t>A driver claimed S$70 for a stained seat with this photo.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86600" y="2743200"/>
            <a:ext cx="46634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200" b="1">
                <a:solidFill>
                  <a:srgbClr val="FCA5A5"/>
                </a:solidFill>
                <a:latin typeface="Segoe UI"/>
              </a:rPr>
              <a:t>There is no stain. The picture was made by an AI image generator.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86600" y="4160520"/>
            <a:ext cx="466344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A3E635"/>
                </a:solidFill>
                <a:latin typeface="Segoe UI"/>
              </a:rPr>
              <a:t>RydeResolve caught it in seconds, charged the rider nothing, and handed it to a person.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A3E635"/>
                </a:solidFill>
                <a:latin typeface="Segoe UI"/>
              </a:rPr>
              <a:t>PROBLEM STATEMENT · RYDE TRACK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32004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9FB0D9"/>
                </a:solidFill>
                <a:latin typeface="Segoe UI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Segoe UI"/>
              </a:rPr>
              <a:t>Disputes are slow, inconsistent, and easy to game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0">
                <a:solidFill>
                  <a:srgbClr val="DBE4FF"/>
                </a:solidFill>
                <a:latin typeface="Segoe UI"/>
              </a:rPr>
              <a:t>Problem statement (Ryde): “Gather evidence, build cases, apply company policy and issue fair rulings quickly, transparently, and without human intervention for the majority of standard disputes.”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057400"/>
            <a:ext cx="11292840" cy="713232"/>
          </a:xfrm>
          <a:prstGeom prst="roundRect">
            <a:avLst>
              <a:gd name="adj" fmla="val 10000"/>
            </a:avLst>
          </a:prstGeom>
          <a:solidFill>
            <a:srgbClr val="142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2249424"/>
            <a:ext cx="31089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50" b="1">
                <a:solidFill>
                  <a:srgbClr val="FCA5A5"/>
                </a:solidFill>
                <a:latin typeface="Segoe UI"/>
              </a:rPr>
              <a:t>Riders and drivers wait 24–72 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03320" y="2221992"/>
            <a:ext cx="365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9FB0D9"/>
                </a:solidFill>
                <a:latin typeface="Segoe UI"/>
              </a:rPr>
              <a:t>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2112264"/>
            <a:ext cx="749807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50" b="1">
                <a:solidFill>
                  <a:srgbClr val="A3E635"/>
                </a:solidFill>
                <a:latin typeface="Segoe UI"/>
              </a:rPr>
              <a:t>A ruling in about 90 seconds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2450592"/>
            <a:ext cx="7498079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DBE4FF"/>
                </a:solidFill>
                <a:latin typeface="Segoe UI"/>
              </a:rPr>
              <a:t>Agents work on the trip records together: GPS, chat, fare, photos, history.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834640"/>
            <a:ext cx="11292840" cy="713232"/>
          </a:xfrm>
          <a:prstGeom prst="roundRect">
            <a:avLst>
              <a:gd name="adj" fmla="val 10000"/>
            </a:avLst>
          </a:prstGeom>
          <a:solidFill>
            <a:srgbClr val="142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3026664"/>
            <a:ext cx="31089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50" b="1">
                <a:solidFill>
                  <a:srgbClr val="FCA5A5"/>
                </a:solidFill>
                <a:latin typeface="Segoe UI"/>
              </a:rPr>
              <a:t>Two staff, two answers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03320" y="2999232"/>
            <a:ext cx="365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9FB0D9"/>
                </a:solidFill>
                <a:latin typeface="Segoe UI"/>
              </a:rPr>
              <a:t>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2889504"/>
            <a:ext cx="749807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50" b="1">
                <a:solidFill>
                  <a:srgbClr val="A3E635"/>
                </a:solidFill>
                <a:latin typeface="Segoe UI"/>
              </a:rPr>
              <a:t>One policy, every fact checked by code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0" y="3227832"/>
            <a:ext cx="7498079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DBE4FF"/>
                </a:solidFill>
                <a:latin typeface="Segoe UI"/>
              </a:rPr>
              <a:t>Each ruling cites Ryde's policy by section; code checks each fact and amount.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611880"/>
            <a:ext cx="11292840" cy="713232"/>
          </a:xfrm>
          <a:prstGeom prst="roundRect">
            <a:avLst>
              <a:gd name="adj" fmla="val 10000"/>
            </a:avLst>
          </a:prstGeom>
          <a:solidFill>
            <a:srgbClr val="142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803904"/>
            <a:ext cx="31089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50" b="1">
                <a:solidFill>
                  <a:srgbClr val="FCA5A5"/>
                </a:solidFill>
                <a:latin typeface="Segoe UI"/>
              </a:rPr>
              <a:t>Nobody explains why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03320" y="3776472"/>
            <a:ext cx="365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9FB0D9"/>
                </a:solidFill>
                <a:latin typeface="Segoe UI"/>
              </a:rPr>
              <a:t>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0" y="3666744"/>
            <a:ext cx="749807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50" b="1">
                <a:solidFill>
                  <a:srgbClr val="A3E635"/>
                </a:solidFill>
                <a:latin typeface="Segoe UI"/>
              </a:rPr>
              <a:t>Both sides told why, in their language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0" y="4005072"/>
            <a:ext cx="7498079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DBE4FF"/>
                </a:solidFill>
                <a:latin typeface="Segoe UI"/>
              </a:rPr>
              <a:t>English · 中文 · Melayu · தமிழ், a status page, and one appeal with new evidence.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389120"/>
            <a:ext cx="11292840" cy="713232"/>
          </a:xfrm>
          <a:prstGeom prst="roundRect">
            <a:avLst>
              <a:gd name="adj" fmla="val 10000"/>
            </a:avLst>
          </a:prstGeom>
          <a:solidFill>
            <a:srgbClr val="142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4581144"/>
            <a:ext cx="31089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50" b="1">
                <a:solidFill>
                  <a:srgbClr val="FCA5A5"/>
                </a:solidFill>
                <a:latin typeface="Segoe UI"/>
              </a:rPr>
              <a:t>Fake or doubtful evidence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03320" y="4553712"/>
            <a:ext cx="365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9FB0D9"/>
                </a:solidFill>
                <a:latin typeface="Segoe UI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0" y="4443983"/>
            <a:ext cx="749807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50" b="1">
                <a:solidFill>
                  <a:srgbClr val="A3E635"/>
                </a:solidFill>
                <a:latin typeface="Segoe UI"/>
              </a:rPr>
              <a:t>Photos checked twice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0" y="4782312"/>
            <a:ext cx="7498079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DBE4FF"/>
                </a:solidFill>
                <a:latin typeface="Segoe UI"/>
              </a:rPr>
              <a:t>Code reads when and where a photo was taken; a vision model checks what it shows.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5166359"/>
            <a:ext cx="11292840" cy="713232"/>
          </a:xfrm>
          <a:prstGeom prst="roundRect">
            <a:avLst>
              <a:gd name="adj" fmla="val 10000"/>
            </a:avLst>
          </a:prstGeom>
          <a:solidFill>
            <a:srgbClr val="142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" y="5358383"/>
            <a:ext cx="31089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50" b="1">
                <a:solidFill>
                  <a:srgbClr val="FCA5A5"/>
                </a:solidFill>
                <a:latin typeface="Segoe UI"/>
              </a:rPr>
              <a:t>Safety lost in a queue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03320" y="5330951"/>
            <a:ext cx="365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9FB0D9"/>
                </a:solidFill>
                <a:latin typeface="Segoe UI"/>
              </a:rPr>
              <a:t>→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14800" y="5221223"/>
            <a:ext cx="749807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50" b="1">
                <a:solidFill>
                  <a:srgbClr val="A3E635"/>
                </a:solidFill>
                <a:latin typeface="Segoe UI"/>
              </a:rPr>
              <a:t>Safety goes straight to a person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4800" y="5559551"/>
            <a:ext cx="7498079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DBE4FF"/>
                </a:solidFill>
                <a:latin typeface="Segoe UI"/>
              </a:rPr>
              <a:t>Harassment in the complaint or in the chat: decided in code, never by the model alone.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6053328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FFFFFF"/>
                </a:solidFill>
                <a:latin typeface="Segoe UI"/>
              </a:rPr>
              <a:t>Our rule: AI decides what the records prove. Code guards the money. A person decides the rest.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A3E635"/>
                </a:solidFill>
                <a:latin typeface="Segoe UI"/>
              </a:rPr>
              <a:t>① AGENTS THAT WORK TOGETHER · ORGANISERS' SAMPLE DISP-001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32004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9FB0D9"/>
                </a:solidFill>
                <a:latin typeface="Segoe UI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Segoe UI"/>
              </a:rPr>
              <a:t>Each side gets an advocate. A judge rules on the policy.</a:t>
            </a:r>
          </a:p>
        </p:txBody>
      </p:sp>
      <p:pic>
        <p:nvPicPr>
          <p:cNvPr id="5" name="v4_agents_DISP-001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457200" y="1463040"/>
            <a:ext cx="7818120" cy="4397692"/>
          </a:xfrm>
          <a:prstGeom prst="rect">
            <a:avLst/>
          </a:prstGeom>
          <a:ln>
            <a:solidFill>
              <a:srgbClr val="2B3B6B"/>
            </a:solidFill>
          </a:ln>
        </p:spPr>
      </p:pic>
      <p:sp>
        <p:nvSpPr>
          <p:cNvPr id="8" name="Rounded Rectangle 7"/>
          <p:cNvSpPr/>
          <p:nvPr/>
        </p:nvSpPr>
        <p:spPr>
          <a:xfrm>
            <a:off x="8458200" y="1463040"/>
            <a:ext cx="3337560" cy="1371600"/>
          </a:xfrm>
          <a:prstGeom prst="roundRect">
            <a:avLst>
              <a:gd name="adj" fmla="val 8000"/>
            </a:avLst>
          </a:prstGeom>
          <a:solidFill>
            <a:srgbClr val="142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41080" y="1572768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A3E635"/>
                </a:solidFill>
                <a:latin typeface="Segoe UI"/>
              </a:rPr>
              <a:t>11 agents, one case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41080" y="1975104"/>
            <a:ext cx="30175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DBE4FF"/>
                </a:solidFill>
                <a:latin typeface="Segoe UI"/>
              </a:rPr>
              <a:t>Collector reads GPS, fare and traffic records: a vehicle fire on the PIE. Fraud, photo and policy checks run in parallel.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58200" y="2953512"/>
            <a:ext cx="3337560" cy="1371600"/>
          </a:xfrm>
          <a:prstGeom prst="roundRect">
            <a:avLst>
              <a:gd name="adj" fmla="val 8000"/>
            </a:avLst>
          </a:prstGeom>
          <a:solidFill>
            <a:srgbClr val="142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41080" y="306324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A3E635"/>
                </a:solidFill>
                <a:latin typeface="Segoe UI"/>
              </a:rPr>
              <a:t>Rider vs driver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41080" y="3465576"/>
            <a:ext cx="30175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DBE4FF"/>
                </a:solidFill>
                <a:latin typeface="Segoe UI"/>
              </a:rPr>
              <a:t>Each advocate argues one side and cites the policy. Neither sees fraud scores: they argue the case, not the person.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58200" y="4443983"/>
            <a:ext cx="3337560" cy="1371600"/>
          </a:xfrm>
          <a:prstGeom prst="roundRect">
            <a:avLst>
              <a:gd name="adj" fmla="val 8000"/>
            </a:avLst>
          </a:prstGeom>
          <a:solidFill>
            <a:srgbClr val="142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41080" y="4553712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A3E635"/>
                </a:solidFill>
                <a:latin typeface="Segoe UI"/>
              </a:rPr>
              <a:t>S$3.44, told to both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41080" y="4956048"/>
            <a:ext cx="30175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DBE4FF"/>
                </a:solidFill>
                <a:latin typeface="Segoe UI"/>
              </a:rPr>
              <a:t>Rerouted for the fire but never told the rider: excess fare back, s1.2–1.3. Notice in 4 languages.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98932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9FB0D9"/>
                </a:solidFill>
                <a:latin typeface="Segoe UI"/>
              </a:rPr>
              <a:t>Rider and driver each have someone arguing for them, and both are told why.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008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AA6"/>
                </a:solidFill>
                <a:latin typeface="Segoe UI"/>
              </a:rPr>
              <a:t>Recorded from the live site (saved replay, no model called) · every step replayable and in a hash-chained audit log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44000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0" mute="1">
                <p:cTn id="7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A3E635"/>
                </a:solidFill>
                <a:latin typeface="Segoe UI"/>
              </a:rPr>
              <a:t>② GUARDRAILS · CANCELLATION FEE F2-17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32004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9FB0D9"/>
                </a:solidFill>
                <a:latin typeface="Segoe UI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Segoe UI"/>
              </a:rPr>
              <a:t>The AI was confidently wrong. Code stopped the payout.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508760"/>
            <a:ext cx="2606040" cy="2057400"/>
          </a:xfrm>
          <a:prstGeom prst="roundRect">
            <a:avLst>
              <a:gd name="adj" fmla="val 8000"/>
            </a:avLst>
          </a:prstGeom>
          <a:solidFill>
            <a:srgbClr val="142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4592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9FB0D9"/>
                </a:solidFill>
                <a:latin typeface="Segoe UI"/>
              </a:rPr>
              <a:t>Judge, draft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96596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900" b="1">
                <a:solidFill>
                  <a:srgbClr val="FFFFFF"/>
                </a:solidFill>
                <a:latin typeface="Segoe UI"/>
              </a:rPr>
              <a:t>Refund S$5 · confidence 62%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97480"/>
            <a:ext cx="22860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DBE4FF"/>
                </a:solidFill>
                <a:latin typeface="Segoe UI"/>
              </a:rPr>
              <a:t>Rests on a driver-assignment record the platform logged as faulty.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08960" y="2286000"/>
            <a:ext cx="274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9FB0D9"/>
                </a:solidFill>
                <a:latin typeface="Segoe UI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55848" y="1508760"/>
            <a:ext cx="2606040" cy="2057400"/>
          </a:xfrm>
          <a:prstGeom prst="roundRect">
            <a:avLst>
              <a:gd name="adj" fmla="val 8000"/>
            </a:avLst>
          </a:prstGeom>
          <a:solidFill>
            <a:srgbClr val="142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38728" y="164592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9FB0D9"/>
                </a:solidFill>
                <a:latin typeface="Segoe UI"/>
              </a:rPr>
              <a:t>Code judge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38728" y="196596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900" b="1">
                <a:solidFill>
                  <a:srgbClr val="FCA5A5"/>
                </a:solidFill>
                <a:latin typeface="Segoe UI"/>
              </a:rPr>
              <a:t>Blocked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38728" y="2697480"/>
            <a:ext cx="22860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DBE4FF"/>
                </a:solidFill>
                <a:latin typeface="Segoe UI"/>
              </a:rPr>
              <a:t>A ruling cannot rest on a record with a logged data problem.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07608" y="2286000"/>
            <a:ext cx="274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9FB0D9"/>
                </a:solidFill>
                <a:latin typeface="Segoe UI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54496" y="1508760"/>
            <a:ext cx="2606040" cy="2057400"/>
          </a:xfrm>
          <a:prstGeom prst="roundRect">
            <a:avLst>
              <a:gd name="adj" fmla="val 8000"/>
            </a:avLst>
          </a:prstGeom>
          <a:solidFill>
            <a:srgbClr val="142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7376" y="164592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9FB0D9"/>
                </a:solidFill>
                <a:latin typeface="Segoe UI"/>
              </a:rPr>
              <a:t>Judge, draft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37376" y="196596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900" b="1">
                <a:solidFill>
                  <a:srgbClr val="FFFFFF"/>
                </a:solidFill>
                <a:latin typeface="Segoe UI"/>
              </a:rPr>
              <a:t>Refund S$5 · confidence 85%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37376" y="2697480"/>
            <a:ext cx="22860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DBE4FF"/>
                </a:solidFill>
                <a:latin typeface="Segoe UI"/>
              </a:rPr>
              <a:t>No new evidence. It just dropped the faulty record from its list of facts.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06256" y="2286000"/>
            <a:ext cx="274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9FB0D9"/>
                </a:solidFill>
                <a:latin typeface="Segoe UI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53144" y="1508760"/>
            <a:ext cx="2606040" cy="2057400"/>
          </a:xfrm>
          <a:prstGeom prst="roundRect">
            <a:avLst>
              <a:gd name="adj" fmla="val 8000"/>
            </a:avLst>
          </a:prstGeom>
          <a:solidFill>
            <a:srgbClr val="142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36024" y="164592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9FB0D9"/>
                </a:solidFill>
                <a:latin typeface="Segoe UI"/>
              </a:rPr>
              <a:t>Code judge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36024" y="196596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900" b="1">
                <a:solidFill>
                  <a:srgbClr val="A3E635"/>
                </a:solidFill>
                <a:latin typeface="Segoe UI"/>
              </a:rPr>
              <a:t>To a person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36024" y="2697480"/>
            <a:ext cx="22860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DBE4FF"/>
                </a:solidFill>
                <a:latin typeface="Segoe UI"/>
              </a:rPr>
              <a:t>Same payout as the blocked draft, without the record it rested on.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3749039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FFFFFF"/>
                </a:solidFill>
                <a:latin typeface="Segoe UI"/>
              </a:rPr>
              <a:t>Every ruling passes these checks before anything happens: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4206240"/>
            <a:ext cx="3611880" cy="804672"/>
          </a:xfrm>
          <a:prstGeom prst="roundRect">
            <a:avLst>
              <a:gd name="adj" fmla="val 10000"/>
            </a:avLst>
          </a:prstGeom>
          <a:solidFill>
            <a:srgbClr val="142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1792" y="4297679"/>
            <a:ext cx="32918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A3E635"/>
                </a:solidFill>
                <a:latin typeface="Segoe UI"/>
              </a:rPr>
              <a:t>Facts and amounts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792" y="461772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0">
                <a:solidFill>
                  <a:srgbClr val="DBE4FF"/>
                </a:solidFill>
                <a:latin typeface="Segoe UI"/>
              </a:rPr>
              <a:t>checked against a record, in code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251960" y="4206240"/>
            <a:ext cx="3611880" cy="804672"/>
          </a:xfrm>
          <a:prstGeom prst="roundRect">
            <a:avLst>
              <a:gd name="adj" fmla="val 10000"/>
            </a:avLst>
          </a:prstGeom>
          <a:solidFill>
            <a:srgbClr val="142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16552" y="4297679"/>
            <a:ext cx="32918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A3E635"/>
                </a:solidFill>
                <a:latin typeface="Segoe UI"/>
              </a:rPr>
              <a:t>Safety, harassment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16552" y="461772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0">
                <a:solidFill>
                  <a:srgbClr val="DBE4FF"/>
                </a:solidFill>
                <a:latin typeface="Segoe UI"/>
              </a:rPr>
              <a:t>to a person; the model can raise urgency, never lower it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46720" y="4206240"/>
            <a:ext cx="3611880" cy="804672"/>
          </a:xfrm>
          <a:prstGeom prst="roundRect">
            <a:avLst>
              <a:gd name="adj" fmla="val 10000"/>
            </a:avLst>
          </a:prstGeom>
          <a:solidFill>
            <a:srgbClr val="142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11312" y="4297679"/>
            <a:ext cx="32918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A3E635"/>
                </a:solidFill>
                <a:latin typeface="Segoe UI"/>
              </a:rPr>
              <a:t>Over S$50 or unsure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11312" y="461772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0">
                <a:solidFill>
                  <a:srgbClr val="DBE4FF"/>
                </a:solidFill>
                <a:latin typeface="Segoe UI"/>
              </a:rPr>
              <a:t>to a person (policy gate in code)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5120640"/>
            <a:ext cx="3611880" cy="804672"/>
          </a:xfrm>
          <a:prstGeom prst="roundRect">
            <a:avLst>
              <a:gd name="adj" fmla="val 10000"/>
            </a:avLst>
          </a:prstGeom>
          <a:solidFill>
            <a:srgbClr val="142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1792" y="5212079"/>
            <a:ext cx="32918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A3E635"/>
                </a:solidFill>
                <a:latin typeface="Segoe UI"/>
              </a:rPr>
              <a:t>Photos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1792" y="553212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0">
                <a:solidFill>
                  <a:srgbClr val="DBE4FF"/>
                </a:solidFill>
                <a:latin typeface="Segoe UI"/>
              </a:rPr>
              <a:t>a vision model can raise doubts, never approve money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251960" y="5120640"/>
            <a:ext cx="3611880" cy="804672"/>
          </a:xfrm>
          <a:prstGeom prst="roundRect">
            <a:avLst>
              <a:gd name="adj" fmla="val 10000"/>
            </a:avLst>
          </a:prstGeom>
          <a:solidFill>
            <a:srgbClr val="142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416552" y="5212079"/>
            <a:ext cx="32918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A3E635"/>
                </a:solidFill>
                <a:latin typeface="Segoe UI"/>
              </a:rPr>
              <a:t>Notices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416552" y="553212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0">
                <a:solidFill>
                  <a:srgbClr val="DBE4FF"/>
                </a:solidFill>
                <a:latin typeface="Segoe UI"/>
              </a:rPr>
              <a:t>written by code from the ruling: never promise money it did not give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046720" y="5120640"/>
            <a:ext cx="3611880" cy="804672"/>
          </a:xfrm>
          <a:prstGeom prst="roundRect">
            <a:avLst>
              <a:gd name="adj" fmla="val 10000"/>
            </a:avLst>
          </a:prstGeom>
          <a:solidFill>
            <a:srgbClr val="142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211312" y="5212079"/>
            <a:ext cx="32918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A3E635"/>
                </a:solidFill>
                <a:latin typeface="Segoe UI"/>
              </a:rPr>
              <a:t>Appeal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11312" y="553212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0">
                <a:solidFill>
                  <a:srgbClr val="DBE4FF"/>
                </a:solidFill>
                <a:latin typeface="Segoe UI"/>
              </a:rPr>
              <a:t>once, under 80% confidence, with new evidence; AI re-checks, else a person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612648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9FB0D9"/>
                </a:solidFill>
                <a:latin typeface="Segoe UI"/>
              </a:rPr>
              <a:t>Code checks the model. The model never checks itself.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A3E635"/>
                </a:solidFill>
                <a:latin typeface="Segoe UI"/>
              </a:rPr>
              <a:t>② GUARDRAILS · NEW SINCE THE VIDEO · CASE HR-03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32004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9FB0D9"/>
                </a:solidFill>
                <a:latin typeface="Segoe UI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Segoe UI"/>
              </a:rPr>
              <a:t>A cleaning-fee claim. The chat shows the driver was harassed.</a:t>
            </a:r>
          </a:p>
        </p:txBody>
      </p:sp>
      <p:pic>
        <p:nvPicPr>
          <p:cNvPr id="5" name="v4_harass_HR-03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457200" y="1463040"/>
            <a:ext cx="7818120" cy="4397692"/>
          </a:xfrm>
          <a:prstGeom prst="rect">
            <a:avLst/>
          </a:prstGeom>
          <a:ln>
            <a:solidFill>
              <a:srgbClr val="2B3B6B"/>
            </a:solidFill>
          </a:ln>
        </p:spPr>
      </p:pic>
      <p:sp>
        <p:nvSpPr>
          <p:cNvPr id="8" name="Rounded Rectangle 7"/>
          <p:cNvSpPr/>
          <p:nvPr/>
        </p:nvSpPr>
        <p:spPr>
          <a:xfrm>
            <a:off x="8458200" y="1463040"/>
            <a:ext cx="3337560" cy="1371600"/>
          </a:xfrm>
          <a:prstGeom prst="roundRect">
            <a:avLst>
              <a:gd name="adj" fmla="val 8000"/>
            </a:avLst>
          </a:prstGeom>
          <a:solidFill>
            <a:srgbClr val="142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41080" y="1572768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A3E635"/>
                </a:solidFill>
                <a:latin typeface="Segoe UI"/>
              </a:rPr>
              <a:t>Looks routine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41080" y="1975104"/>
            <a:ext cx="30175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DBE4FF"/>
                </a:solidFill>
                <a:latin typeface="Segoe UI"/>
              </a:rPr>
              <a:t>Driver claims S$80: sticky drink on the seat, photos and receipt attached.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58200" y="2953512"/>
            <a:ext cx="3337560" cy="1371600"/>
          </a:xfrm>
          <a:prstGeom prst="roundRect">
            <a:avLst>
              <a:gd name="adj" fmla="val 8000"/>
            </a:avLst>
          </a:prstGeom>
          <a:solidFill>
            <a:srgbClr val="142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41080" y="306324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A3E635"/>
                </a:solidFill>
                <a:latin typeface="Segoe UI"/>
              </a:rPr>
              <a:t>The chat says more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41080" y="3465576"/>
            <a:ext cx="30175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DBE4FF"/>
                </a:solidFill>
                <a:latin typeface="Segoe UI"/>
              </a:rPr>
              <a:t>"give me ur number… i wont let u go". The chat check labels it a threat.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58200" y="4443983"/>
            <a:ext cx="3337560" cy="1371600"/>
          </a:xfrm>
          <a:prstGeom prst="roundRect">
            <a:avLst>
              <a:gd name="adj" fmla="val 8000"/>
            </a:avLst>
          </a:prstGeom>
          <a:solidFill>
            <a:srgbClr val="142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41080" y="4553712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A3E635"/>
                </a:solidFill>
                <a:latin typeface="Segoe UI"/>
              </a:rPr>
              <a:t>To a person, now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41080" y="4956048"/>
            <a:ext cx="30175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DBE4FF"/>
                </a:solidFill>
                <a:latin typeface="Segoe UI"/>
              </a:rPr>
              <a:t>No automatic charge or refund. A safety reviewer sees the chat, the claim and why it stopped.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98932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9FB0D9"/>
                </a:solidFill>
                <a:latin typeface="Segoe UI"/>
              </a:rPr>
              <a:t>We read the whole record, not only the complaint, and drivers are protected too.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008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AA6"/>
                </a:solidFill>
                <a:latin typeface="Segoe UI"/>
              </a:rPr>
              <a:t>Recorded from the live site (saved replay, no model called) · http://43.134.17.192 · blind harassment sets 10/10 and 6/6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33840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0" mute="1">
                <p:cTn id="7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A3E635"/>
                </a:solidFill>
                <a:latin typeface="Segoe UI"/>
              </a:rPr>
              <a:t>③ PHOTO CHECKS · CASES IM-04 AND IM-12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32004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9FB0D9"/>
                </a:solidFill>
                <a:latin typeface="Segoe UI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Segoe UI"/>
              </a:rPr>
              <a:t>Two checks on every photo: its data, then its content</a:t>
            </a:r>
          </a:p>
        </p:txBody>
      </p:sp>
      <p:pic>
        <p:nvPicPr>
          <p:cNvPr id="5" name="v4_photos_IM-04_IM-12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457200" y="1463040"/>
            <a:ext cx="7818120" cy="4397692"/>
          </a:xfrm>
          <a:prstGeom prst="rect">
            <a:avLst/>
          </a:prstGeom>
          <a:ln>
            <a:solidFill>
              <a:srgbClr val="2B3B6B"/>
            </a:solidFill>
          </a:ln>
        </p:spPr>
      </p:pic>
      <p:pic>
        <p:nvPicPr>
          <p:cNvPr id="8" name="Picture 7" descr="photo1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58200" y="1463040"/>
            <a:ext cx="2401238" cy="16002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458200" y="3108960"/>
            <a:ext cx="33375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A3E635"/>
                </a:solidFill>
                <a:latin typeface="Segoe UI"/>
              </a:rPr>
              <a:t>IM-04 · taken 5 min after drop-off, 30 m away, mud seen → fee stands</a:t>
            </a:r>
          </a:p>
        </p:txBody>
      </p:sp>
      <p:pic>
        <p:nvPicPr>
          <p:cNvPr id="10" name="Picture 9" descr="photo1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58200" y="3730752"/>
            <a:ext cx="2131996" cy="16002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458200" y="5376672"/>
            <a:ext cx="33375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FCA5A5"/>
                </a:solidFill>
                <a:latin typeface="Segoe UI"/>
              </a:rPr>
              <a:t>IM-12 · no stain, AI watermark → rider not charged, to a person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98932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9FB0D9"/>
                </a:solidFill>
                <a:latin typeface="Segoe UI"/>
              </a:rPr>
              <a:t>Honest drivers get paid. Faked photos never move money.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008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AA6"/>
                </a:solidFill>
                <a:latin typeface="Segoe UI"/>
              </a:rPr>
              <a:t>Recorded from the live site (saved replay, no model called) · http://43.134.17.192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50120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0" mute="1">
                <p:cTn id="7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A3E635"/>
                </a:solidFill>
                <a:latin typeface="Segoe UI"/>
              </a:rPr>
              <a:t>FOR THE PEOPLE INVOLVED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32004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9FB0D9"/>
                </a:solidFill>
                <a:latin typeface="Segoe UI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Segoe UI"/>
              </a:rPr>
              <a:t>A person is always one step away</a:t>
            </a:r>
          </a:p>
        </p:txBody>
      </p:sp>
      <p:pic>
        <p:nvPicPr>
          <p:cNvPr id="5" name="demo4_people_review_status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457200" y="1463040"/>
            <a:ext cx="7818120" cy="4397692"/>
          </a:xfrm>
          <a:prstGeom prst="rect">
            <a:avLst/>
          </a:prstGeom>
          <a:ln>
            <a:solidFill>
              <a:srgbClr val="2B3B6B"/>
            </a:solidFill>
          </a:ln>
        </p:spPr>
      </p:pic>
      <p:sp>
        <p:nvSpPr>
          <p:cNvPr id="8" name="Rounded Rectangle 7"/>
          <p:cNvSpPr/>
          <p:nvPr/>
        </p:nvSpPr>
        <p:spPr>
          <a:xfrm>
            <a:off x="8458200" y="1463040"/>
            <a:ext cx="3337560" cy="1371600"/>
          </a:xfrm>
          <a:prstGeom prst="roundRect">
            <a:avLst>
              <a:gd name="adj" fmla="val 8000"/>
            </a:avLst>
          </a:prstGeom>
          <a:solidFill>
            <a:srgbClr val="142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41080" y="1572768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A3E635"/>
                </a:solidFill>
                <a:latin typeface="Segoe UI"/>
              </a:rPr>
              <a:t>Review desk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41080" y="1975104"/>
            <a:ext cx="30175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DBE4FF"/>
                </a:solidFill>
                <a:latin typeface="Segoe UI"/>
              </a:rPr>
              <a:t>Why the AI stopped, the facts in dispute, a Tencent ADP assistant for policy questions. The reviewer decides; tested decisions become precedents.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58200" y="2953512"/>
            <a:ext cx="3337560" cy="1371600"/>
          </a:xfrm>
          <a:prstGeom prst="roundRect">
            <a:avLst>
              <a:gd name="adj" fmla="val 8000"/>
            </a:avLst>
          </a:prstGeom>
          <a:solidFill>
            <a:srgbClr val="142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41080" y="306324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A3E635"/>
                </a:solidFill>
                <a:latin typeface="Segoe UI"/>
              </a:rPr>
              <a:t>Status page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41080" y="3465576"/>
            <a:ext cx="30175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DBE4FF"/>
                </a:solidFill>
                <a:latin typeface="Segoe UI"/>
              </a:rPr>
              <a:t>Riders and drivers follow each step to the final decision, in plain words.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58200" y="4443983"/>
            <a:ext cx="3337560" cy="1371600"/>
          </a:xfrm>
          <a:prstGeom prst="roundRect">
            <a:avLst>
              <a:gd name="adj" fmla="val 8000"/>
            </a:avLst>
          </a:prstGeom>
          <a:solidFill>
            <a:srgbClr val="142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41080" y="4553712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A3E635"/>
                </a:solidFill>
                <a:latin typeface="Segoe UI"/>
              </a:rPr>
              <a:t>Accessible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41080" y="4956048"/>
            <a:ext cx="30175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DBE4FF"/>
                </a:solidFill>
                <a:latin typeface="Segoe UI"/>
              </a:rPr>
              <a:t>Notices in 4 languages; skip link, live updates for screen readers, higher contrast.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98932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9FB0D9"/>
                </a:solidFill>
                <a:latin typeface="Segoe UI"/>
              </a:rPr>
              <a:t>One appeal with new evidence where the AI was unsure; the AI re-checks first.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008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AA6"/>
                </a:solidFill>
                <a:latin typeface="Segoe UI"/>
              </a:rPr>
              <a:t>Recorded from the live site (saved replay, no model called) · http://43.134.17.192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9430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0" mute="1">
                <p:cTn id="7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A3E635"/>
                </a:solidFill>
                <a:latin typeface="Segoe UI"/>
              </a:rPr>
              <a:t>PROOF AND NEXT STEP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32004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9FB0D9"/>
                </a:solidFill>
                <a:latin typeface="Segoe UI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Segoe UI"/>
              </a:rPr>
              <a:t>Tested on cases it never saw. Ready for Ryde's data.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508760"/>
            <a:ext cx="2697480" cy="1417320"/>
          </a:xfrm>
          <a:prstGeom prst="roundRect">
            <a:avLst>
              <a:gd name="adj" fmla="val 7000"/>
            </a:avLst>
          </a:prstGeom>
          <a:solidFill>
            <a:srgbClr val="142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45920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Segoe UI"/>
              </a:rPr>
              <a:t>3 /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31720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9FB0D9"/>
                </a:solidFill>
                <a:latin typeface="Segoe UI"/>
              </a:rPr>
              <a:t>organisers' samples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10128" y="1508760"/>
            <a:ext cx="2697480" cy="1417320"/>
          </a:xfrm>
          <a:prstGeom prst="roundRect">
            <a:avLst>
              <a:gd name="adj" fmla="val 7000"/>
            </a:avLst>
          </a:prstGeom>
          <a:solidFill>
            <a:srgbClr val="142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93008" y="1645920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Segoe UI"/>
              </a:rPr>
              <a:t>25 / 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93008" y="2331720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9FB0D9"/>
                </a:solidFill>
                <a:latin typeface="Segoe UI"/>
              </a:rPr>
              <a:t>blind set, organisers' format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63056" y="1508760"/>
            <a:ext cx="2697480" cy="1417320"/>
          </a:xfrm>
          <a:prstGeom prst="roundRect">
            <a:avLst>
              <a:gd name="adj" fmla="val 7000"/>
            </a:avLst>
          </a:prstGeom>
          <a:solidFill>
            <a:srgbClr val="142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45936" y="1645920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Segoe UI"/>
              </a:rPr>
              <a:t>45 / 52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45936" y="2331720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9FB0D9"/>
                </a:solidFill>
                <a:latin typeface="Segoe UI"/>
              </a:rPr>
              <a:t>regression, policy v2.1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15984" y="1508760"/>
            <a:ext cx="2697480" cy="1417320"/>
          </a:xfrm>
          <a:prstGeom prst="roundRect">
            <a:avLst>
              <a:gd name="adj" fmla="val 7000"/>
            </a:avLst>
          </a:prstGeom>
          <a:solidFill>
            <a:srgbClr val="142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98863" y="1645920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Segoe UI"/>
              </a:rPr>
              <a:t>10/10 · 6/6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98863" y="2331720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9FB0D9"/>
                </a:solidFill>
                <a:latin typeface="Segoe UI"/>
              </a:rPr>
              <a:t>blind harassment sets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06324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9FB0D9"/>
                </a:solidFill>
                <a:latin typeface="Segoe UI"/>
              </a:rPr>
              <a:t>Most misses are cases handed to a person: minutes, not money. Every miss and its fix is published in the repo.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611880"/>
            <a:ext cx="3611880" cy="1508760"/>
          </a:xfrm>
          <a:prstGeom prst="roundRect">
            <a:avLst>
              <a:gd name="adj" fmla="val 7000"/>
            </a:avLst>
          </a:prstGeom>
          <a:solidFill>
            <a:srgbClr val="142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730752"/>
            <a:ext cx="32461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A3E635"/>
                </a:solidFill>
                <a:latin typeface="Segoe UI"/>
              </a:rPr>
              <a:t>Plug 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160520"/>
            <a:ext cx="32461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DBE4FF"/>
                </a:solidFill>
                <a:latin typeface="Segoe UI"/>
              </a:rPr>
              <a:t>One setting connects Ryde's API in shadow mode: it rules next to your team and pays nothing.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51960" y="3611880"/>
            <a:ext cx="3611880" cy="1508760"/>
          </a:xfrm>
          <a:prstGeom prst="roundRect">
            <a:avLst>
              <a:gd name="adj" fmla="val 7000"/>
            </a:avLst>
          </a:prstGeom>
          <a:solidFill>
            <a:srgbClr val="142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34840" y="3730752"/>
            <a:ext cx="32461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A3E635"/>
                </a:solidFill>
                <a:latin typeface="Segoe UI"/>
              </a:rPr>
              <a:t>Cheap to run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34840" y="4160520"/>
            <a:ext cx="32461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DBE4FF"/>
                </a:solidFill>
                <a:latin typeface="Segoe UI"/>
              </a:rPr>
              <a:t>About US$0.017 a dispute on an open 120B model that can run in-house.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46720" y="3611880"/>
            <a:ext cx="3611880" cy="1508760"/>
          </a:xfrm>
          <a:prstGeom prst="roundRect">
            <a:avLst>
              <a:gd name="adj" fmla="val 7000"/>
            </a:avLst>
          </a:prstGeom>
          <a:solidFill>
            <a:srgbClr val="142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0" y="3730752"/>
            <a:ext cx="32461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A3E635"/>
                </a:solidFill>
                <a:latin typeface="Segoe UI"/>
              </a:rPr>
              <a:t>Earn trust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0" y="4160520"/>
            <a:ext cx="32461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DBE4FF"/>
                </a:solidFill>
                <a:latin typeface="Segoe UI"/>
              </a:rPr>
              <a:t>Decide small cases alone only once agreement with your team is high.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544068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Segoe UI"/>
              </a:rPr>
              <a:t>RydeResolve: fair, explainable ride-dispute rulings in minutes, not days.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053328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9FB0D9"/>
                </a:solidFill>
                <a:latin typeface="Segoe UI"/>
              </a:rPr>
              <a:t>Built on Tencent Cloud: Lighthouse server in Singapore · ADP policy assistant (Hunyuan) · developed with CodeBuddy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492" y="0"/>
            <a:ext cx="1179871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A3E635"/>
                </a:solidFill>
                <a:latin typeface="Segoe UI"/>
              </a:rPr>
              <a:t>ENGINEERING DECISIONS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32004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9FB0D9"/>
                </a:solidFill>
                <a:latin typeface="Segoe UI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Segoe UI"/>
              </a:rPr>
              <a:t>Built so a wrong payout is the hardest thing to happen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600200"/>
            <a:ext cx="3611880" cy="1828800"/>
          </a:xfrm>
          <a:prstGeom prst="roundRect">
            <a:avLst>
              <a:gd name="adj" fmla="val 7000"/>
            </a:avLst>
          </a:prstGeom>
          <a:solidFill>
            <a:srgbClr val="142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28216"/>
            <a:ext cx="32461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A3E635"/>
                </a:solidFill>
                <a:latin typeface="Segoe UI"/>
              </a:rPr>
              <a:t>Code checks the 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67128"/>
            <a:ext cx="324612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DBE4FF"/>
                </a:solidFill>
                <a:latin typeface="Segoe UI"/>
              </a:rPr>
              <a:t>A deterministic code judge verifies every fact and amount against a record before money moves. It caught F2-17 (when the Judge lists the record).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51960" y="1600200"/>
            <a:ext cx="3611880" cy="1828800"/>
          </a:xfrm>
          <a:prstGeom prst="roundRect">
            <a:avLst>
              <a:gd name="adj" fmla="val 7000"/>
            </a:avLst>
          </a:prstGeom>
          <a:solidFill>
            <a:srgbClr val="142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34840" y="1728216"/>
            <a:ext cx="32461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A3E635"/>
                </a:solidFill>
                <a:latin typeface="Segoe UI"/>
              </a:rPr>
              <a:t>Escalate, never misjudge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4840" y="2167128"/>
            <a:ext cx="324612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DBE4FF"/>
                </a:solidFill>
                <a:latin typeface="Segoe UI"/>
              </a:rPr>
              <a:t>Unprovable, low-confidence, over S$50 or unsafe: a person decides. A wrong payout is the failure we test hardest.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600200"/>
            <a:ext cx="3611880" cy="1828800"/>
          </a:xfrm>
          <a:prstGeom prst="roundRect">
            <a:avLst>
              <a:gd name="adj" fmla="val 7000"/>
            </a:avLst>
          </a:prstGeom>
          <a:solidFill>
            <a:srgbClr val="142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1728216"/>
            <a:ext cx="32461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A3E635"/>
                </a:solidFill>
                <a:latin typeface="Segoe UI"/>
              </a:rPr>
              <a:t>Safety floor in code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2167128"/>
            <a:ext cx="324612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DBE4FF"/>
                </a:solidFill>
                <a:latin typeface="Segoe UI"/>
              </a:rPr>
              <a:t>Physical, sexual, stalking and legal wording is routed by code. The LLM can raise urgency, never lower it.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611880"/>
            <a:ext cx="3611880" cy="1828800"/>
          </a:xfrm>
          <a:prstGeom prst="roundRect">
            <a:avLst>
              <a:gd name="adj" fmla="val 7000"/>
            </a:avLst>
          </a:prstGeom>
          <a:solidFill>
            <a:srgbClr val="142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739896"/>
            <a:ext cx="32461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A3E635"/>
                </a:solidFill>
                <a:latin typeface="Segoe UI"/>
              </a:rPr>
              <a:t>Need-to-know agents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178808"/>
            <a:ext cx="324612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DBE4FF"/>
                </a:solidFill>
                <a:latin typeface="Segoe UI"/>
              </a:rPr>
              <a:t>Advocates never see fraud scores or a party's history: they argue the case, not the person.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51960" y="3611880"/>
            <a:ext cx="3611880" cy="1828800"/>
          </a:xfrm>
          <a:prstGeom prst="roundRect">
            <a:avLst>
              <a:gd name="adj" fmla="val 7000"/>
            </a:avLst>
          </a:prstGeom>
          <a:solidFill>
            <a:srgbClr val="142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34840" y="3739896"/>
            <a:ext cx="32461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A3E635"/>
                </a:solidFill>
                <a:latin typeface="Segoe UI"/>
              </a:rPr>
              <a:t>Observable and auditable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34840" y="4178808"/>
            <a:ext cx="324612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DBE4FF"/>
                </a:solidFill>
                <a:latin typeface="Segoe UI"/>
              </a:rPr>
              <a:t>Every agent step is streamed and replayable; every ruling cites its policy section; hash-chained audit log.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46720" y="3611880"/>
            <a:ext cx="3611880" cy="1828800"/>
          </a:xfrm>
          <a:prstGeom prst="roundRect">
            <a:avLst>
              <a:gd name="adj" fmla="val 7000"/>
            </a:avLst>
          </a:prstGeom>
          <a:solidFill>
            <a:srgbClr val="142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0" y="3739896"/>
            <a:ext cx="32461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A3E635"/>
                </a:solidFill>
                <a:latin typeface="Segoe UI"/>
              </a:rPr>
              <a:t>Ready for Ryde, cheap to run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0" y="4178808"/>
            <a:ext cx="324612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DBE4FF"/>
                </a:solidFill>
                <a:latin typeface="Segoe UI"/>
              </a:rPr>
              <a:t>Shadow mode on Ryde's API. ~1.7 US¢ a dispute on an open 120B model; can run in-house.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58064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9FB0D9"/>
                </a:solidFill>
                <a:latin typeface="Segoe UI"/>
              </a:rPr>
              <a:t>Brief coverage: the 3 MVP agents plus evidence collection, fraud, policy &amp; precedent RAG, photo checks, escalation, reviewed-precedent learning and P0 safety routing.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A3E635"/>
                </a:solidFill>
                <a:latin typeface="Segoe UI"/>
              </a:rPr>
              <a:t>HOW WE KNOW IT WORKS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502920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1200" b="0">
                <a:solidFill>
                  <a:srgbClr val="9FB0D9"/>
                </a:solidFill>
                <a:latin typeface="Segoe UI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698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FFFFFF"/>
                </a:solidFill>
                <a:latin typeface="Segoe UI"/>
              </a:rPr>
              <a:t>Tested on cases it had never seen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874519"/>
          <a:ext cx="1069848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54880"/>
                <a:gridCol w="2377440"/>
                <a:gridCol w="3566160"/>
              </a:tblGrid>
              <a:tr h="621792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Segoe UI"/>
                        </a:rPr>
                        <a:t>Test set</a:t>
                      </a:r>
                    </a:p>
                  </a:txBody>
                  <a:tcPr marL="182880"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Segoe UI"/>
                        </a:rPr>
                        <a:t>Correct</a:t>
                      </a:r>
                    </a:p>
                  </a:txBody>
                  <a:tcPr marL="182880"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Segoe UI"/>
                        </a:rPr>
                        <a:t>Note</a:t>
                      </a:r>
                    </a:p>
                  </a:txBody>
                  <a:tcPr marL="182880" anchor="ctr">
                    <a:solidFill>
                      <a:srgbClr val="1E3A8A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FFFFFF"/>
                          </a:solidFill>
                          <a:latin typeface="Segoe UI"/>
                        </a:rPr>
                        <a:t>Organisers' samples</a:t>
                      </a:r>
                    </a:p>
                  </a:txBody>
                  <a:tcPr marL="182880" anchor="ctr">
                    <a:solidFill>
                      <a:srgbClr val="1422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1">
                          <a:solidFill>
                            <a:srgbClr val="A3E635"/>
                          </a:solidFill>
                          <a:latin typeface="Segoe UI"/>
                        </a:rPr>
                        <a:t>3 / 3</a:t>
                      </a:r>
                    </a:p>
                  </a:txBody>
                  <a:tcPr marL="182880" anchor="ctr">
                    <a:solidFill>
                      <a:srgbClr val="1422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9FB0D9"/>
                          </a:solidFill>
                          <a:latin typeface="Segoe UI"/>
                        </a:rPr>
                        <a:t>DISP-001 to 003</a:t>
                      </a:r>
                    </a:p>
                  </a:txBody>
                  <a:tcPr marL="182880" anchor="ctr">
                    <a:solidFill>
                      <a:srgbClr val="14224A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FFFFFF"/>
                          </a:solidFill>
                          <a:latin typeface="Segoe UI"/>
                        </a:rPr>
                        <a:t>Blind set, organisers' format</a:t>
                      </a:r>
                    </a:p>
                  </a:txBody>
                  <a:tcPr marL="182880" anchor="ctr">
                    <a:solidFill>
                      <a:srgbClr val="1422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1">
                          <a:solidFill>
                            <a:srgbClr val="A3E635"/>
                          </a:solidFill>
                          <a:latin typeface="Segoe UI"/>
                        </a:rPr>
                        <a:t>25 / 30</a:t>
                      </a:r>
                    </a:p>
                  </a:txBody>
                  <a:tcPr marL="182880" anchor="ctr">
                    <a:solidFill>
                      <a:srgbClr val="1422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9FB0D9"/>
                          </a:solidFill>
                          <a:latin typeface="Segoe UI"/>
                        </a:rPr>
                        <a:t>written by another model</a:t>
                      </a:r>
                    </a:p>
                  </a:txBody>
                  <a:tcPr marL="182880" anchor="ctr">
                    <a:solidFill>
                      <a:srgbClr val="14224A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FFFFFF"/>
                          </a:solidFill>
                          <a:latin typeface="Segoe UI"/>
                        </a:rPr>
                        <a:t>Regression, policy v2.1</a:t>
                      </a:r>
                    </a:p>
                  </a:txBody>
                  <a:tcPr marL="182880" anchor="ctr">
                    <a:solidFill>
                      <a:srgbClr val="1422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1">
                          <a:solidFill>
                            <a:srgbClr val="A3E635"/>
                          </a:solidFill>
                          <a:latin typeface="Segoe UI"/>
                        </a:rPr>
                        <a:t>44 / 52</a:t>
                      </a:r>
                    </a:p>
                  </a:txBody>
                  <a:tcPr marL="182880" anchor="ctr">
                    <a:solidFill>
                      <a:srgbClr val="1422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9FB0D9"/>
                          </a:solidFill>
                          <a:latin typeface="Segoe UI"/>
                        </a:rPr>
                        <a:t>45 / 52 on the final code</a:t>
                      </a:r>
                    </a:p>
                  </a:txBody>
                  <a:tcPr marL="182880" anchor="ctr">
                    <a:solidFill>
                      <a:srgbClr val="14224A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FFFFFF"/>
                          </a:solidFill>
                          <a:latin typeface="Segoe UI"/>
                        </a:rPr>
                        <a:t>Harassment, blind (new)</a:t>
                      </a:r>
                    </a:p>
                  </a:txBody>
                  <a:tcPr marL="182880" anchor="ctr">
                    <a:solidFill>
                      <a:srgbClr val="1422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1">
                          <a:solidFill>
                            <a:srgbClr val="A3E635"/>
                          </a:solidFill>
                          <a:latin typeface="Segoe UI"/>
                        </a:rPr>
                        <a:t>10/10 · 6/6</a:t>
                      </a:r>
                    </a:p>
                  </a:txBody>
                  <a:tcPr marL="182880" anchor="ctr">
                    <a:solidFill>
                      <a:srgbClr val="1422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9FB0D9"/>
                          </a:solidFill>
                          <a:latin typeface="Segoe UI"/>
                        </a:rPr>
                        <a:t>always reaches a person</a:t>
                      </a:r>
                    </a:p>
                  </a:txBody>
                  <a:tcPr marL="182880" anchor="ctr">
                    <a:solidFill>
                      <a:srgbClr val="14224A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31520" y="5349240"/>
            <a:ext cx="106984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>
                <a:solidFill>
                  <a:srgbClr val="DBE4FF"/>
                </a:solidFill>
                <a:latin typeface="Segoe UI"/>
              </a:rPr>
              <a:t>Most misses are cases handed to a person: that costs minutes, not money.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A3E635"/>
                </a:solidFill>
                <a:latin typeface="Segoe UI"/>
              </a:rPr>
              <a:t>HOW IT LEARNS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32004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9FB0D9"/>
                </a:solidFill>
                <a:latin typeface="Segoe UI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Segoe UI"/>
              </a:rPr>
              <a:t>It learns only from people, after a test shows no harm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600200"/>
            <a:ext cx="2651760" cy="2148840"/>
          </a:xfrm>
          <a:prstGeom prst="roundRect">
            <a:avLst>
              <a:gd name="adj" fmla="val 8000"/>
            </a:avLst>
          </a:prstGeom>
          <a:solidFill>
            <a:srgbClr val="142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1792" y="17190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A3E635"/>
                </a:solidFill>
                <a:latin typeface="Segoe UI"/>
              </a:rPr>
              <a:t>1  Reviewer decides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2176272"/>
            <a:ext cx="23774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DBE4FF"/>
                </a:solidFill>
                <a:latin typeface="Segoe UI"/>
              </a:rPr>
              <a:t>A person rules on a case the AI handed over. The decision is saved as a pending precedent.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10128" y="1600200"/>
            <a:ext cx="2651760" cy="2148840"/>
          </a:xfrm>
          <a:prstGeom prst="roundRect">
            <a:avLst>
              <a:gd name="adj" fmla="val 8000"/>
            </a:avLst>
          </a:prstGeom>
          <a:solidFill>
            <a:srgbClr val="142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74720" y="17190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A3E635"/>
                </a:solidFill>
                <a:latin typeface="Segoe UI"/>
              </a:rPr>
              <a:t>2  Admin approves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4720" y="2176272"/>
            <a:ext cx="23774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DBE4FF"/>
                </a:solidFill>
                <a:latin typeface="Segoe UI"/>
              </a:rPr>
              <a:t>Approved precedents are staged: indexed, but only the evaluation can see them.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63056" y="1600200"/>
            <a:ext cx="2651760" cy="2148840"/>
          </a:xfrm>
          <a:prstGeom prst="roundRect">
            <a:avLst>
              <a:gd name="adj" fmla="val 8000"/>
            </a:avLst>
          </a:prstGeom>
          <a:solidFill>
            <a:srgbClr val="142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27648" y="17190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A3E635"/>
                </a:solidFill>
                <a:latin typeface="Segoe UI"/>
              </a:rPr>
              <a:t>3  Evaluation gate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27648" y="2176272"/>
            <a:ext cx="23774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DBE4FF"/>
                </a:solidFill>
                <a:latin typeface="Segoe UI"/>
              </a:rPr>
              <a:t>Re-run the test set with and without it. Accuracy and every safety metric must not get worse.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15984" y="1600200"/>
            <a:ext cx="2651760" cy="2148840"/>
          </a:xfrm>
          <a:prstGeom prst="roundRect">
            <a:avLst>
              <a:gd name="adj" fmla="val 8000"/>
            </a:avLst>
          </a:prstGeom>
          <a:solidFill>
            <a:srgbClr val="142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80576" y="17190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A3E635"/>
                </a:solidFill>
                <a:latin typeface="Segoe UI"/>
              </a:rPr>
              <a:t>4  Live precedent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80576" y="2176272"/>
            <a:ext cx="23774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DBE4FF"/>
                </a:solidFill>
                <a:latin typeface="Segoe UI"/>
              </a:rPr>
              <a:t>Only then do new rulings find and cite it. A failed gate rejects it.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977639"/>
            <a:ext cx="5532120" cy="1600200"/>
          </a:xfrm>
          <a:prstGeom prst="roundRect">
            <a:avLst>
              <a:gd name="adj" fmla="val 8000"/>
            </a:avLst>
          </a:prstGeom>
          <a:solidFill>
            <a:srgbClr val="142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4096512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A3E635"/>
                </a:solidFill>
                <a:latin typeface="Segoe UI"/>
              </a:rPr>
              <a:t>Safety metrics that can never drop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526280"/>
            <a:ext cx="51206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DBE4FF"/>
                </a:solidFill>
                <a:latin typeface="Segoe UI"/>
              </a:rPr>
              <a:t>P0 escalation recall, refund cap, missing-data escalation, failure rate. A precedent that trades safety for accuracy is rejected.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3977639"/>
            <a:ext cx="5532120" cy="1600200"/>
          </a:xfrm>
          <a:prstGeom prst="roundRect">
            <a:avLst>
              <a:gd name="adj" fmla="val 8000"/>
            </a:avLst>
          </a:prstGeom>
          <a:solidFill>
            <a:srgbClr val="142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55080" y="4096512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A3E635"/>
                </a:solidFill>
                <a:latin typeface="Segoe UI"/>
              </a:rPr>
              <a:t>Rollback and audit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4526280"/>
            <a:ext cx="51206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DBE4FF"/>
                </a:solidFill>
                <a:latin typeface="Segoe UI"/>
              </a:rPr>
              <a:t>An admin can retire any live precedent at once. Every step is written to the hash-chained audit log.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580644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9FB0D9"/>
                </a:solidFill>
                <a:latin typeface="Segoe UI"/>
              </a:rPr>
              <a:t>The AI never rewrites its own rules or policy. Code: src/store/feedback.py, scripts/precedents.py.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